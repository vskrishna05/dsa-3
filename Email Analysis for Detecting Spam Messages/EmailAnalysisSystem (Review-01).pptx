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105"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3179" y="614819"/>
            <a:ext cx="10085639" cy="2316702"/>
          </a:xfrm>
        </p:spPr>
        <p:txBody>
          <a:bodyPr/>
          <a:lstStyle/>
          <a:p>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r>
              <a:rPr lang="en-US" sz="3600" b="1" dirty="0">
                <a:solidFill>
                  <a:srgbClr val="C00000"/>
                </a:solidFill>
                <a:latin typeface="Times New Roman" panose="02020603050405020304" pitchFamily="18" charset="0"/>
                <a:cs typeface="Times New Roman" panose="02020603050405020304" pitchFamily="18" charset="0"/>
              </a:rPr>
              <a:t>Data Structures and Algorithms -3 (25CS2103E)</a:t>
            </a:r>
            <a:br>
              <a:rPr lang="en-US" sz="3600" b="1" dirty="0">
                <a:solidFill>
                  <a:srgbClr val="C00000"/>
                </a:solidFill>
                <a:latin typeface="Times New Roman" panose="02020603050405020304" pitchFamily="18" charset="0"/>
                <a:cs typeface="Times New Roman" panose="02020603050405020304" pitchFamily="18" charset="0"/>
              </a:rPr>
            </a:br>
            <a:br>
              <a:rPr lang="en-US" sz="3600" b="1" dirty="0">
                <a:solidFill>
                  <a:srgbClr val="C00000"/>
                </a:solidFill>
                <a:latin typeface="Times New Roman" panose="02020603050405020304" pitchFamily="18" charset="0"/>
                <a:cs typeface="Times New Roman" panose="02020603050405020304" pitchFamily="18" charset="0"/>
              </a:rPr>
            </a:br>
            <a:r>
              <a:rPr lang="en-IN" sz="3600" b="1" dirty="0">
                <a:solidFill>
                  <a:srgbClr val="C00000"/>
                </a:solidFill>
                <a:latin typeface="Times New Roman" panose="02020603050405020304" pitchFamily="18" charset="0"/>
                <a:cs typeface="Times New Roman" panose="02020603050405020304" pitchFamily="18" charset="0"/>
              </a:rPr>
              <a:t>Email Content Analysis for Detecting Spam Messages </a:t>
            </a:r>
            <a:endParaRPr lang="en-US" sz="3600" b="1" dirty="0">
              <a:solidFill>
                <a:srgbClr val="C0000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3820356" y="3429000"/>
            <a:ext cx="4551284" cy="1396014"/>
          </a:xfrm>
        </p:spPr>
        <p:txBody>
          <a:bodyPr/>
          <a:lstStyle/>
          <a:p>
            <a:r>
              <a:rPr lang="en-IN" sz="2000" dirty="0">
                <a:latin typeface="Times New Roman" panose="02020603050405020304" pitchFamily="18" charset="0"/>
                <a:cs typeface="Times New Roman" panose="02020603050405020304" pitchFamily="18" charset="0"/>
              </a:rPr>
              <a:t>Submitted by </a:t>
            </a:r>
          </a:p>
          <a:p>
            <a:r>
              <a:rPr lang="en-IN" sz="2200" dirty="0">
                <a:solidFill>
                  <a:schemeClr val="accent1"/>
                </a:solidFill>
                <a:latin typeface="Times New Roman" panose="02020603050405020304" pitchFamily="18" charset="0"/>
                <a:cs typeface="Times New Roman" panose="02020603050405020304" pitchFamily="18" charset="0"/>
              </a:rPr>
              <a:t>Venkata Sai Krishna (2520030027) </a:t>
            </a:r>
            <a:r>
              <a:rPr lang="en-IN" sz="2200" dirty="0" err="1">
                <a:solidFill>
                  <a:schemeClr val="accent1"/>
                </a:solidFill>
                <a:latin typeface="Times New Roman" panose="02020603050405020304" pitchFamily="18" charset="0"/>
                <a:cs typeface="Times New Roman" panose="02020603050405020304" pitchFamily="18" charset="0"/>
              </a:rPr>
              <a:t>Pujith</a:t>
            </a:r>
            <a:r>
              <a:rPr lang="en-IN" sz="2200" dirty="0">
                <a:solidFill>
                  <a:schemeClr val="accent1"/>
                </a:solidFill>
                <a:latin typeface="Times New Roman" panose="02020603050405020304" pitchFamily="18" charset="0"/>
                <a:cs typeface="Times New Roman" panose="02020603050405020304" pitchFamily="18" charset="0"/>
              </a:rPr>
              <a:t> Pavan Kumar (2520030029) Ajai Manikanta          (2520030320) </a:t>
            </a:r>
          </a:p>
          <a:p>
            <a:endParaRPr lang="en-US" sz="2200" kern="0" dirty="0">
              <a:solidFill>
                <a:schemeClr val="accent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71450" algn="ctr">
              <a:lnSpc>
                <a:spcPct val="107000"/>
              </a:lnSpc>
              <a:spcAft>
                <a:spcPts val="800"/>
              </a:spcAft>
            </a:pPr>
            <a:r>
              <a:rPr lang="en-US" sz="2200" kern="0" dirty="0">
                <a:effectLst/>
                <a:latin typeface="Times New Roman" panose="02020603050405020304" pitchFamily="18" charset="0"/>
                <a:ea typeface="Times New Roman" panose="02020603050405020304" pitchFamily="18" charset="0"/>
                <a:cs typeface="Times New Roman" panose="02020603050405020304" pitchFamily="18" charset="0"/>
              </a:rPr>
              <a:t>Under the Esteemed Guidance of</a:t>
            </a:r>
            <a:endParaRPr lang="en-IN"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spcAft>
                <a:spcPts val="800"/>
              </a:spcAft>
            </a:pPr>
            <a:r>
              <a:rPr lang="en-IN" sz="2200" b="1" dirty="0">
                <a:latin typeface="Times New Roman" panose="02020603050405020304" pitchFamily="18" charset="0"/>
                <a:cs typeface="Times New Roman" panose="02020603050405020304" pitchFamily="18" charset="0"/>
              </a:rPr>
              <a:t>Dr S Madhavi </a:t>
            </a:r>
            <a:r>
              <a:rPr lang="en-IN" sz="2200" b="1" dirty="0" err="1">
                <a:latin typeface="Times New Roman" panose="02020603050405020304" pitchFamily="18" charset="0"/>
                <a:cs typeface="Times New Roman" panose="02020603050405020304" pitchFamily="18" charset="0"/>
              </a:rPr>
              <a:t>Professor,CSE</a:t>
            </a:r>
            <a:r>
              <a:rPr lang="en-IN" sz="2200" dirty="0">
                <a:latin typeface="Times New Roman" panose="02020603050405020304" pitchFamily="18" charset="0"/>
                <a:cs typeface="Times New Roman" panose="02020603050405020304" pitchFamily="18" charset="0"/>
              </a:rPr>
              <a:t> </a:t>
            </a:r>
            <a:r>
              <a:rPr lang="en-US" sz="2200" b="1"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2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2200" dirty="0">
              <a:solidFill>
                <a:schemeClr val="accent1"/>
              </a:solidFill>
              <a:latin typeface="Times New Roman" panose="02020603050405020304" pitchFamily="18" charset="0"/>
              <a:cs typeface="Times New Roman" panose="02020603050405020304" pitchFamily="18" charset="0"/>
            </a:endParaRPr>
          </a:p>
          <a:p>
            <a:endParaRPr lang="en-US" sz="2200"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F878AD3F-4107-4A36-5E00-6045A5E4D140}"/>
              </a:ext>
            </a:extLst>
          </p:cNvPr>
          <p:cNvSpPr txBox="1"/>
          <p:nvPr/>
        </p:nvSpPr>
        <p:spPr>
          <a:xfrm>
            <a:off x="682603" y="1454301"/>
            <a:ext cx="10685454" cy="4524315"/>
          </a:xfrm>
          <a:prstGeom prst="rect">
            <a:avLst/>
          </a:prstGeom>
          <a:noFill/>
        </p:spPr>
        <p:txBody>
          <a:bodyPr wrap="square">
            <a:spAutoFit/>
          </a:bodyPr>
          <a:lstStyle/>
          <a:p>
            <a:pPr algn="just">
              <a:buNone/>
            </a:pPr>
            <a:r>
              <a:rPr lang="en-IN" sz="2400" b="1" dirty="0"/>
              <a:t>Email Analysis for Detecting Spam Messages</a:t>
            </a:r>
            <a:r>
              <a:rPr lang="en-IN" sz="2400" dirty="0"/>
              <a:t> is a Java-based console application designed to identify spam and suspicious emails by </a:t>
            </a:r>
            <a:r>
              <a:rPr lang="en-IN" sz="2400" dirty="0" err="1"/>
              <a:t>analyzing</a:t>
            </a:r>
            <a:r>
              <a:rPr lang="en-IN" sz="2400" dirty="0"/>
              <a:t> their content. The system reads emails and spam-related keywords from text files, preprocesses the content, and uses string-matching algorithms such as </a:t>
            </a:r>
            <a:r>
              <a:rPr lang="en-IN" sz="2400" b="1" dirty="0"/>
              <a:t>KMP, Rabin-Karp, Z-Algorithm, and Aho-</a:t>
            </a:r>
            <a:r>
              <a:rPr lang="en-IN" sz="2400" b="1" dirty="0" err="1"/>
              <a:t>Corasick</a:t>
            </a:r>
            <a:r>
              <a:rPr lang="en-IN" sz="2400" dirty="0"/>
              <a:t> to detect suspicious words and phrases.</a:t>
            </a:r>
          </a:p>
          <a:p>
            <a:pPr algn="just">
              <a:buNone/>
            </a:pPr>
            <a:endParaRPr lang="en-IN" sz="2400" dirty="0"/>
          </a:p>
          <a:p>
            <a:pPr algn="just">
              <a:buNone/>
            </a:pPr>
            <a:r>
              <a:rPr lang="en-IN" sz="2400" dirty="0"/>
              <a:t>The project also demonstrates other Data Structures and Algorithms concepts, including </a:t>
            </a:r>
            <a:r>
              <a:rPr lang="en-IN" sz="2400" b="1" dirty="0"/>
              <a:t>Bitmask Dynamic Programming, Edmonds-Karp, Greedy Set Cover, randomized hashing, and parallel processing</a:t>
            </a:r>
            <a:r>
              <a:rPr lang="en-IN" sz="2400" dirty="0"/>
              <a:t>. Based on the detected patterns and calculated score, each email is classified as </a:t>
            </a:r>
            <a:r>
              <a:rPr lang="en-IN" sz="2400" b="1" dirty="0"/>
              <a:t>SPAM</a:t>
            </a:r>
            <a:r>
              <a:rPr lang="en-IN" sz="2400" dirty="0"/>
              <a:t> or </a:t>
            </a:r>
            <a:r>
              <a:rPr lang="en-IN" sz="2400" b="1" dirty="0"/>
              <a:t>NOT SPAM</a:t>
            </a:r>
            <a:r>
              <a:rPr lang="en-IN" sz="2400" dirty="0"/>
              <a:t>. This project shows how different DSA concepts can be combined to solve a practical problem in a simple and understandable way.</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D98AA435-E5FA-8163-80F6-4A9B98FEB94F}"/>
              </a:ext>
            </a:extLst>
          </p:cNvPr>
          <p:cNvSpPr txBox="1"/>
          <p:nvPr/>
        </p:nvSpPr>
        <p:spPr>
          <a:xfrm>
            <a:off x="820009" y="1029818"/>
            <a:ext cx="10489053" cy="5262979"/>
          </a:xfrm>
          <a:prstGeom prst="rect">
            <a:avLst/>
          </a:prstGeom>
          <a:noFill/>
        </p:spPr>
        <p:txBody>
          <a:bodyPr wrap="square">
            <a:spAutoFit/>
          </a:bodyPr>
          <a:lstStyle/>
          <a:p>
            <a:pPr algn="just">
              <a:buNone/>
            </a:pPr>
            <a:r>
              <a:rPr lang="en-IN" sz="2400" dirty="0">
                <a:latin typeface="Times New Roman" panose="02020603050405020304" pitchFamily="18" charset="0"/>
                <a:cs typeface="Times New Roman" panose="02020603050405020304" pitchFamily="18" charset="0"/>
              </a:rPr>
              <a:t>Email has become an important part of everyday communication, but the increasing number of spam and suspicious messages has also created security and privacy concerns. Spam emails may contain unwanted advertisements, fake prize notifications, account verification requests, or attempts to collect personal information. Therefore, identifying such messages based on their content is useful for reducing the risk caused by suspicious emails.</a:t>
            </a:r>
          </a:p>
          <a:p>
            <a:pPr algn="just">
              <a:buNone/>
            </a:pPr>
            <a:endParaRPr lang="en-IN" sz="2400" dirty="0">
              <a:latin typeface="Times New Roman" panose="02020603050405020304" pitchFamily="18" charset="0"/>
              <a:cs typeface="Times New Roman" panose="02020603050405020304" pitchFamily="18" charset="0"/>
            </a:endParaRPr>
          </a:p>
          <a:p>
            <a:pPr algn="just">
              <a:buNone/>
            </a:pPr>
            <a:r>
              <a:rPr lang="en-IN" sz="2400" dirty="0">
                <a:latin typeface="Times New Roman" panose="02020603050405020304" pitchFamily="18" charset="0"/>
                <a:cs typeface="Times New Roman" panose="02020603050405020304" pitchFamily="18" charset="0"/>
              </a:rPr>
              <a:t>This project, </a:t>
            </a:r>
            <a:r>
              <a:rPr lang="en-IN" sz="2400" b="1" dirty="0">
                <a:latin typeface="Times New Roman" panose="02020603050405020304" pitchFamily="18" charset="0"/>
                <a:cs typeface="Times New Roman" panose="02020603050405020304" pitchFamily="18" charset="0"/>
              </a:rPr>
              <a:t>Email Analysis for Detecting Spam Messages</a:t>
            </a:r>
            <a:r>
              <a:rPr lang="en-IN" sz="2400" dirty="0">
                <a:latin typeface="Times New Roman" panose="02020603050405020304" pitchFamily="18" charset="0"/>
                <a:cs typeface="Times New Roman" panose="02020603050405020304" pitchFamily="18" charset="0"/>
              </a:rPr>
              <a:t>, uses different </a:t>
            </a:r>
            <a:r>
              <a:rPr lang="en-IN" sz="2400" b="1" dirty="0">
                <a:latin typeface="Times New Roman" panose="02020603050405020304" pitchFamily="18" charset="0"/>
                <a:cs typeface="Times New Roman" panose="02020603050405020304" pitchFamily="18" charset="0"/>
              </a:rPr>
              <a:t>Data Structures and Algorithms</a:t>
            </a:r>
            <a:r>
              <a:rPr lang="en-IN" sz="2400" dirty="0">
                <a:latin typeface="Times New Roman" panose="02020603050405020304" pitchFamily="18" charset="0"/>
                <a:cs typeface="Times New Roman" panose="02020603050405020304" pitchFamily="18" charset="0"/>
              </a:rPr>
              <a:t> to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email content and identify suspicious patterns. The system searches for spam-related words and phrases using multiple string-matching algorithms and then applies additional DSA techniques to calculate and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the detected features. Finally, each email is classified as </a:t>
            </a:r>
            <a:r>
              <a:rPr lang="en-IN" sz="2400" b="1" dirty="0">
                <a:latin typeface="Times New Roman" panose="02020603050405020304" pitchFamily="18" charset="0"/>
                <a:cs typeface="Times New Roman" panose="02020603050405020304" pitchFamily="18" charset="0"/>
              </a:rPr>
              <a:t>SPAM</a:t>
            </a:r>
            <a:r>
              <a:rPr lang="en-IN" sz="2400" dirty="0">
                <a:latin typeface="Times New Roman" panose="02020603050405020304" pitchFamily="18" charset="0"/>
                <a:cs typeface="Times New Roman" panose="02020603050405020304" pitchFamily="18" charset="0"/>
              </a:rPr>
              <a:t> or </a:t>
            </a:r>
            <a:r>
              <a:rPr lang="en-IN" sz="2400" b="1" dirty="0">
                <a:latin typeface="Times New Roman" panose="02020603050405020304" pitchFamily="18" charset="0"/>
                <a:cs typeface="Times New Roman" panose="02020603050405020304" pitchFamily="18" charset="0"/>
              </a:rPr>
              <a:t>NOT SPAM</a:t>
            </a:r>
            <a:r>
              <a:rPr lang="en-IN" sz="2400" dirty="0">
                <a:latin typeface="Times New Roman" panose="02020603050405020304" pitchFamily="18" charset="0"/>
                <a:cs typeface="Times New Roman" panose="02020603050405020304" pitchFamily="18" charset="0"/>
              </a:rPr>
              <a:t>, showing how concepts learned in DSA can be applied to a practical real-world problem.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5" name="TextBox 4">
            <a:extLst>
              <a:ext uri="{FF2B5EF4-FFF2-40B4-BE49-F238E27FC236}">
                <a16:creationId xmlns:a16="http://schemas.microsoft.com/office/drawing/2014/main" id="{4CC14598-0058-7C85-BAC0-B2F1B2FF4080}"/>
              </a:ext>
            </a:extLst>
          </p:cNvPr>
          <p:cNvSpPr txBox="1"/>
          <p:nvPr/>
        </p:nvSpPr>
        <p:spPr>
          <a:xfrm>
            <a:off x="843608" y="1103696"/>
            <a:ext cx="10725027" cy="5262979"/>
          </a:xfrm>
          <a:prstGeom prst="rect">
            <a:avLst/>
          </a:prstGeom>
          <a:noFill/>
        </p:spPr>
        <p:txBody>
          <a:bodyPr wrap="square">
            <a:spAutoFit/>
          </a:bodyPr>
          <a:lstStyle/>
          <a:p>
            <a:pPr algn="just">
              <a:buNone/>
            </a:pPr>
            <a:r>
              <a:rPr lang="en-IN" sz="2400" dirty="0">
                <a:latin typeface="Times New Roman" panose="02020603050405020304" pitchFamily="18" charset="0"/>
                <a:cs typeface="Times New Roman" panose="02020603050405020304" pitchFamily="18" charset="0"/>
              </a:rPr>
              <a:t>Several existing studies have focused on detecting spam emails using different computational and algorithmic techniques. Traditional spam detection methods mainly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email content and identify suspicious words, phrases, and patterns. String-matching algorithms such as </a:t>
            </a:r>
            <a:r>
              <a:rPr lang="en-IN" sz="2400" b="1" dirty="0">
                <a:latin typeface="Times New Roman" panose="02020603050405020304" pitchFamily="18" charset="0"/>
                <a:cs typeface="Times New Roman" panose="02020603050405020304" pitchFamily="18" charset="0"/>
              </a:rPr>
              <a:t>KMP, Rabin-Karp, and Aho-</a:t>
            </a:r>
            <a:r>
              <a:rPr lang="en-IN" sz="2400" b="1" dirty="0" err="1">
                <a:latin typeface="Times New Roman" panose="02020603050405020304" pitchFamily="18" charset="0"/>
                <a:cs typeface="Times New Roman" panose="02020603050405020304" pitchFamily="18" charset="0"/>
              </a:rPr>
              <a:t>Corasick</a:t>
            </a:r>
            <a:r>
              <a:rPr lang="en-IN" sz="2400" dirty="0">
                <a:latin typeface="Times New Roman" panose="02020603050405020304" pitchFamily="18" charset="0"/>
                <a:cs typeface="Times New Roman" panose="02020603050405020304" pitchFamily="18" charset="0"/>
              </a:rPr>
              <a:t> are useful for efficiently searching multiple patterns in large text. These approaches provide a simple and understandable way to identify common spam indicators.</a:t>
            </a:r>
          </a:p>
          <a:p>
            <a:pPr algn="just">
              <a:buNone/>
            </a:pPr>
            <a:endParaRPr lang="en-IN" sz="2400" dirty="0">
              <a:latin typeface="Times New Roman" panose="02020603050405020304" pitchFamily="18" charset="0"/>
              <a:cs typeface="Times New Roman" panose="02020603050405020304" pitchFamily="18" charset="0"/>
            </a:endParaRPr>
          </a:p>
          <a:p>
            <a:pPr algn="just">
              <a:buNone/>
            </a:pPr>
            <a:r>
              <a:rPr lang="en-IN" sz="2400" dirty="0">
                <a:latin typeface="Times New Roman" panose="02020603050405020304" pitchFamily="18" charset="0"/>
                <a:cs typeface="Times New Roman" panose="02020603050405020304" pitchFamily="18" charset="0"/>
              </a:rPr>
              <a:t>Recent approaches also use </a:t>
            </a:r>
            <a:r>
              <a:rPr lang="en-IN" sz="2400" b="1" dirty="0">
                <a:latin typeface="Times New Roman" panose="02020603050405020304" pitchFamily="18" charset="0"/>
                <a:cs typeface="Times New Roman" panose="02020603050405020304" pitchFamily="18" charset="0"/>
              </a:rPr>
              <a:t>machine learning, statistical methods, and advanced algorithms</a:t>
            </a:r>
            <a:r>
              <a:rPr lang="en-IN" sz="2400" dirty="0">
                <a:latin typeface="Times New Roman" panose="02020603050405020304" pitchFamily="18" charset="0"/>
                <a:cs typeface="Times New Roman" panose="02020603050405020304" pitchFamily="18" charset="0"/>
              </a:rPr>
              <a:t> to improve spam detection. However, such methods can require large datasets and additional training. This project takes a simpler DSA-based approach by combining string matching with </a:t>
            </a:r>
            <a:r>
              <a:rPr lang="en-IN" sz="2400" b="1" dirty="0">
                <a:latin typeface="Times New Roman" panose="02020603050405020304" pitchFamily="18" charset="0"/>
                <a:cs typeface="Times New Roman" panose="02020603050405020304" pitchFamily="18" charset="0"/>
              </a:rPr>
              <a:t>Dynamic Programming, network flow, greedy approximation, randomized hashing, and parallel processing</a:t>
            </a:r>
            <a:r>
              <a:rPr lang="en-IN" sz="2400" dirty="0">
                <a:latin typeface="Times New Roman" panose="02020603050405020304" pitchFamily="18" charset="0"/>
                <a:cs typeface="Times New Roman" panose="02020603050405020304" pitchFamily="18" charset="0"/>
              </a:rPr>
              <a:t>. This makes the system useful for demonstrating how different DSA concepts can be applied together to solve a practical email spam detection problem.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51FE1A95-AB81-A986-2D19-D3C1374F57EB}"/>
              </a:ext>
            </a:extLst>
          </p:cNvPr>
          <p:cNvSpPr txBox="1"/>
          <p:nvPr/>
        </p:nvSpPr>
        <p:spPr>
          <a:xfrm>
            <a:off x="507344" y="1252262"/>
            <a:ext cx="11397553" cy="5324535"/>
          </a:xfrm>
          <a:prstGeom prst="rect">
            <a:avLst/>
          </a:prstGeom>
          <a:noFill/>
        </p:spPr>
        <p:txBody>
          <a:bodyPr wrap="square">
            <a:spAutoFit/>
          </a:bodyPr>
          <a:lstStyle/>
          <a:p>
            <a:pPr algn="just">
              <a:buNone/>
            </a:pPr>
            <a:r>
              <a:rPr lang="en-IN" sz="2000" dirty="0"/>
              <a:t>Spam emails are a common problem that can contain unwanted advertisements, fake offers, prize scams, account verification requests, and attempts to obtain personal information. Manually checking a large number of emails is time-consuming and may not always identify suspicious messages accurately. Therefore, there is a need for a simple system that can </a:t>
            </a:r>
            <a:r>
              <a:rPr lang="en-IN" sz="2000" dirty="0" err="1"/>
              <a:t>analyze</a:t>
            </a:r>
            <a:r>
              <a:rPr lang="en-IN" sz="2000" dirty="0"/>
              <a:t> email content and detect suspicious patterns efficiently.</a:t>
            </a:r>
          </a:p>
          <a:p>
            <a:pPr algn="just">
              <a:buNone/>
            </a:pPr>
            <a:r>
              <a:rPr lang="en-IN" sz="2000" dirty="0"/>
              <a:t>The proposed project aims to develop a </a:t>
            </a:r>
            <a:r>
              <a:rPr lang="en-IN" sz="2000" b="1" dirty="0"/>
              <a:t>Java-based email analysis system</a:t>
            </a:r>
            <a:r>
              <a:rPr lang="en-IN" sz="2000" dirty="0"/>
              <a:t> that uses different Data Structures and Algorithms to identify spam-related words and phrases and classify emails as </a:t>
            </a:r>
            <a:r>
              <a:rPr lang="en-IN" sz="2000" b="1" dirty="0"/>
              <a:t>SPAM</a:t>
            </a:r>
            <a:r>
              <a:rPr lang="en-IN" sz="2000" dirty="0"/>
              <a:t> or </a:t>
            </a:r>
            <a:r>
              <a:rPr lang="en-IN" sz="2000" b="1" dirty="0"/>
              <a:t>NOT SPAM</a:t>
            </a:r>
            <a:r>
              <a:rPr lang="en-IN" sz="2000" dirty="0"/>
              <a:t>.</a:t>
            </a:r>
          </a:p>
          <a:p>
            <a:pPr algn="just">
              <a:buNone/>
            </a:pPr>
            <a:endParaRPr lang="en-IN" sz="2000" dirty="0"/>
          </a:p>
          <a:p>
            <a:pPr algn="just">
              <a:buNone/>
            </a:pPr>
            <a:r>
              <a:rPr lang="en-IN" sz="2000" b="1" dirty="0"/>
              <a:t>Objectives</a:t>
            </a:r>
          </a:p>
          <a:p>
            <a:pPr marL="342900" lvl="0" indent="-342900" algn="just">
              <a:buFont typeface="Arial" panose="020B0604020202020204" pitchFamily="34" charset="0"/>
              <a:buChar char="•"/>
            </a:pPr>
            <a:r>
              <a:rPr lang="en-IN" sz="2000" dirty="0"/>
              <a:t>To develop a system for detecting spam and suspicious emails. </a:t>
            </a:r>
          </a:p>
          <a:p>
            <a:pPr marL="342900" lvl="0" indent="-342900" algn="just">
              <a:buFont typeface="Arial" panose="020B0604020202020204" pitchFamily="34" charset="0"/>
              <a:buChar char="•"/>
            </a:pPr>
            <a:r>
              <a:rPr lang="en-IN" sz="2000" dirty="0"/>
              <a:t>To preprocess email text for efficient analysis. </a:t>
            </a:r>
          </a:p>
          <a:p>
            <a:pPr marL="342900" lvl="0" indent="-342900" algn="just">
              <a:buFont typeface="Arial" panose="020B0604020202020204" pitchFamily="34" charset="0"/>
              <a:buChar char="•"/>
            </a:pPr>
            <a:r>
              <a:rPr lang="en-IN" sz="2000" dirty="0"/>
              <a:t>To apply </a:t>
            </a:r>
            <a:r>
              <a:rPr lang="en-IN" sz="2000" b="1" dirty="0"/>
              <a:t>KMP, Rabin-Karp, Z-Algorithm, and Aho-</a:t>
            </a:r>
            <a:r>
              <a:rPr lang="en-IN" sz="2000" b="1" dirty="0" err="1"/>
              <a:t>Corasick</a:t>
            </a:r>
            <a:r>
              <a:rPr lang="en-IN" sz="2000" dirty="0"/>
              <a:t> for pattern matching. </a:t>
            </a:r>
          </a:p>
          <a:p>
            <a:pPr marL="342900" lvl="0" indent="-342900" algn="just">
              <a:buFont typeface="Arial" panose="020B0604020202020204" pitchFamily="34" charset="0"/>
              <a:buChar char="•"/>
            </a:pPr>
            <a:r>
              <a:rPr lang="en-IN" sz="2000" dirty="0"/>
              <a:t>To use </a:t>
            </a:r>
            <a:r>
              <a:rPr lang="en-IN" sz="2000" b="1" dirty="0"/>
              <a:t>Dynamic Programming</a:t>
            </a:r>
            <a:r>
              <a:rPr lang="en-IN" sz="2000" dirty="0"/>
              <a:t> for feature-score calculation. </a:t>
            </a:r>
          </a:p>
          <a:p>
            <a:pPr marL="342900" lvl="0" indent="-342900" algn="just">
              <a:buFont typeface="Arial" panose="020B0604020202020204" pitchFamily="34" charset="0"/>
              <a:buChar char="•"/>
            </a:pPr>
            <a:r>
              <a:rPr lang="en-IN" sz="2000" dirty="0"/>
              <a:t>To demonstrate </a:t>
            </a:r>
            <a:r>
              <a:rPr lang="en-IN" sz="2000" b="1" dirty="0"/>
              <a:t>Edmonds-Karp</a:t>
            </a:r>
            <a:r>
              <a:rPr lang="en-IN" sz="2000" dirty="0"/>
              <a:t> network flow in spam analysis. </a:t>
            </a:r>
          </a:p>
          <a:p>
            <a:pPr marL="342900" lvl="0" indent="-342900" algn="just">
              <a:buFont typeface="Arial" panose="020B0604020202020204" pitchFamily="34" charset="0"/>
              <a:buChar char="•"/>
            </a:pPr>
            <a:r>
              <a:rPr lang="en-IN" sz="2000" dirty="0"/>
              <a:t>To apply </a:t>
            </a:r>
            <a:r>
              <a:rPr lang="en-IN" sz="2000" b="1" dirty="0"/>
              <a:t>Greedy Set Cover</a:t>
            </a:r>
            <a:r>
              <a:rPr lang="en-IN" sz="2000" dirty="0"/>
              <a:t> for selecting suitable spam detection rules. </a:t>
            </a:r>
          </a:p>
          <a:p>
            <a:pPr marL="342900" lvl="0" indent="-342900" algn="just">
              <a:buFont typeface="Arial" panose="020B0604020202020204" pitchFamily="34" charset="0"/>
              <a:buChar char="•"/>
            </a:pPr>
            <a:r>
              <a:rPr lang="en-IN" sz="2000" dirty="0"/>
              <a:t>To demonstrate </a:t>
            </a:r>
            <a:r>
              <a:rPr lang="en-IN" sz="2000" b="1" dirty="0"/>
              <a:t>randomized hashing and parallel processing</a:t>
            </a:r>
            <a:r>
              <a:rPr lang="en-IN" sz="2000" dirty="0"/>
              <a:t>. </a:t>
            </a:r>
          </a:p>
          <a:p>
            <a:pPr marL="342900" lvl="0" indent="-342900" algn="just">
              <a:buFont typeface="Arial" panose="020B0604020202020204" pitchFamily="34" charset="0"/>
              <a:buChar char="•"/>
            </a:pPr>
            <a:r>
              <a:rPr lang="en-IN" sz="2000" dirty="0"/>
              <a:t>To classify emails based on their calculated spam score. </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7" name="Picture 6">
            <a:extLst>
              <a:ext uri="{FF2B5EF4-FFF2-40B4-BE49-F238E27FC236}">
                <a16:creationId xmlns:a16="http://schemas.microsoft.com/office/drawing/2014/main" id="{46E1F1F4-72FD-A7EB-4DE6-6AFE14675471}"/>
              </a:ext>
            </a:extLst>
          </p:cNvPr>
          <p:cNvPicPr>
            <a:picLocks noChangeAspect="1"/>
          </p:cNvPicPr>
          <p:nvPr/>
        </p:nvPicPr>
        <p:blipFill>
          <a:blip r:embed="rId2"/>
          <a:stretch>
            <a:fillRect/>
          </a:stretch>
        </p:blipFill>
        <p:spPr>
          <a:xfrm>
            <a:off x="3361648" y="1207600"/>
            <a:ext cx="5468702" cy="521089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5" name="TextBox 4">
            <a:extLst>
              <a:ext uri="{FF2B5EF4-FFF2-40B4-BE49-F238E27FC236}">
                <a16:creationId xmlns:a16="http://schemas.microsoft.com/office/drawing/2014/main" id="{1AF20441-A24E-575B-910D-1DEF9D42335B}"/>
              </a:ext>
            </a:extLst>
          </p:cNvPr>
          <p:cNvSpPr txBox="1"/>
          <p:nvPr/>
        </p:nvSpPr>
        <p:spPr>
          <a:xfrm>
            <a:off x="831809" y="1583816"/>
            <a:ext cx="10565745" cy="4154984"/>
          </a:xfrm>
          <a:prstGeom prst="rect">
            <a:avLst/>
          </a:prstGeom>
          <a:noFill/>
        </p:spPr>
        <p:txBody>
          <a:bodyPr wrap="square">
            <a:spAutoFit/>
          </a:bodyPr>
          <a:lstStyle/>
          <a:p>
            <a:pPr algn="just">
              <a:buNone/>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Email Analysis for Detecting Spam Messages</a:t>
            </a:r>
            <a:r>
              <a:rPr lang="en-IN" sz="2400" dirty="0">
                <a:latin typeface="Times New Roman" panose="02020603050405020304" pitchFamily="18" charset="0"/>
                <a:cs typeface="Times New Roman" panose="02020603050405020304" pitchFamily="18" charset="0"/>
              </a:rPr>
              <a:t> system was successfully implemented and tested using sample email data. The system reads emails and spam keywords from text files, preprocesses the content, and identifies suspicious words and phrases using </a:t>
            </a:r>
            <a:r>
              <a:rPr lang="en-IN" sz="2400" b="1" dirty="0">
                <a:latin typeface="Times New Roman" panose="02020603050405020304" pitchFamily="18" charset="0"/>
                <a:cs typeface="Times New Roman" panose="02020603050405020304" pitchFamily="18" charset="0"/>
              </a:rPr>
              <a:t>KMP, Rabin-Karp, Z-Algorithm, and Aho-</a:t>
            </a:r>
            <a:r>
              <a:rPr lang="en-IN" sz="2400" b="1" dirty="0" err="1">
                <a:latin typeface="Times New Roman" panose="02020603050405020304" pitchFamily="18" charset="0"/>
                <a:cs typeface="Times New Roman" panose="02020603050405020304" pitchFamily="18" charset="0"/>
              </a:rPr>
              <a:t>Corasick</a:t>
            </a:r>
            <a:r>
              <a:rPr lang="en-IN" sz="2400" dirty="0">
                <a:latin typeface="Times New Roman" panose="02020603050405020304" pitchFamily="18" charset="0"/>
                <a:cs typeface="Times New Roman" panose="02020603050405020304" pitchFamily="18" charset="0"/>
              </a:rPr>
              <a:t>. The detected patterns are then used for further scoring and analysis.</a:t>
            </a:r>
          </a:p>
          <a:p>
            <a:pPr algn="just">
              <a:buNone/>
            </a:pPr>
            <a:endParaRPr lang="en-IN" sz="2400" dirty="0">
              <a:latin typeface="Times New Roman" panose="02020603050405020304" pitchFamily="18" charset="0"/>
              <a:cs typeface="Times New Roman" panose="02020603050405020304" pitchFamily="18" charset="0"/>
            </a:endParaRPr>
          </a:p>
          <a:p>
            <a:pPr algn="just">
              <a:buNone/>
            </a:pPr>
            <a:r>
              <a:rPr lang="en-IN" sz="2400" dirty="0">
                <a:latin typeface="Times New Roman" panose="02020603050405020304" pitchFamily="18" charset="0"/>
                <a:cs typeface="Times New Roman" panose="02020603050405020304" pitchFamily="18" charset="0"/>
              </a:rPr>
              <a:t>Based on the calculated spam score, emails are classified as </a:t>
            </a:r>
            <a:r>
              <a:rPr lang="en-IN" sz="2400" b="1" dirty="0">
                <a:latin typeface="Times New Roman" panose="02020603050405020304" pitchFamily="18" charset="0"/>
                <a:cs typeface="Times New Roman" panose="02020603050405020304" pitchFamily="18" charset="0"/>
              </a:rPr>
              <a:t>SPAM</a:t>
            </a:r>
            <a:r>
              <a:rPr lang="en-IN" sz="2400" dirty="0">
                <a:latin typeface="Times New Roman" panose="02020603050405020304" pitchFamily="18" charset="0"/>
                <a:cs typeface="Times New Roman" panose="02020603050405020304" pitchFamily="18" charset="0"/>
              </a:rPr>
              <a:t> or </a:t>
            </a:r>
            <a:r>
              <a:rPr lang="en-IN" sz="2400" b="1" dirty="0">
                <a:latin typeface="Times New Roman" panose="02020603050405020304" pitchFamily="18" charset="0"/>
                <a:cs typeface="Times New Roman" panose="02020603050405020304" pitchFamily="18" charset="0"/>
              </a:rPr>
              <a:t>NOT SPAM</a:t>
            </a:r>
            <a:r>
              <a:rPr lang="en-IN" sz="2400" dirty="0">
                <a:latin typeface="Times New Roman" panose="02020603050405020304" pitchFamily="18" charset="0"/>
                <a:cs typeface="Times New Roman" panose="02020603050405020304" pitchFamily="18" charset="0"/>
              </a:rPr>
              <a:t>. The system also displays the detected patterns, scores, classification results, and a final summary of the </a:t>
            </a:r>
            <a:r>
              <a:rPr lang="en-IN" sz="2400" dirty="0" err="1">
                <a:latin typeface="Times New Roman" panose="02020603050405020304" pitchFamily="18" charset="0"/>
                <a:cs typeface="Times New Roman" panose="02020603050405020304" pitchFamily="18" charset="0"/>
              </a:rPr>
              <a:t>analyzed</a:t>
            </a:r>
            <a:r>
              <a:rPr lang="en-IN" sz="2400" dirty="0">
                <a:latin typeface="Times New Roman" panose="02020603050405020304" pitchFamily="18" charset="0"/>
                <a:cs typeface="Times New Roman" panose="02020603050405020304" pitchFamily="18" charset="0"/>
              </a:rPr>
              <a:t> emails. The implementation demonstrates that multiple </a:t>
            </a:r>
            <a:r>
              <a:rPr lang="en-IN" sz="2400" b="1" dirty="0">
                <a:latin typeface="Times New Roman" panose="02020603050405020304" pitchFamily="18" charset="0"/>
                <a:cs typeface="Times New Roman" panose="02020603050405020304" pitchFamily="18" charset="0"/>
              </a:rPr>
              <a:t>DSA concepts can be combined effectively</a:t>
            </a:r>
            <a:r>
              <a:rPr lang="en-IN" sz="2400" dirty="0">
                <a:latin typeface="Times New Roman" panose="02020603050405020304" pitchFamily="18" charset="0"/>
                <a:cs typeface="Times New Roman" panose="02020603050405020304" pitchFamily="18" charset="0"/>
              </a:rPr>
              <a:t> to solve a practical email spam detection problem.</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5" name="TextBox 4">
            <a:extLst>
              <a:ext uri="{FF2B5EF4-FFF2-40B4-BE49-F238E27FC236}">
                <a16:creationId xmlns:a16="http://schemas.microsoft.com/office/drawing/2014/main" id="{6AA81ACD-B2EF-E14D-E91A-26BC4443A2B9}"/>
              </a:ext>
            </a:extLst>
          </p:cNvPr>
          <p:cNvSpPr txBox="1"/>
          <p:nvPr/>
        </p:nvSpPr>
        <p:spPr>
          <a:xfrm>
            <a:off x="3047509" y="1271427"/>
            <a:ext cx="6096982" cy="5324535"/>
          </a:xfrm>
          <a:prstGeom prst="rect">
            <a:avLst/>
          </a:prstGeom>
          <a:noFill/>
        </p:spPr>
        <p:txBody>
          <a:bodyPr wrap="square">
            <a:spAutoFit/>
          </a:bodyPr>
          <a:lstStyle/>
          <a:p>
            <a:pPr algn="just">
              <a:buNone/>
            </a:pPr>
            <a:r>
              <a:rPr lang="en-IN" sz="2000" b="1" dirty="0">
                <a:latin typeface="Times New Roman" panose="02020603050405020304" pitchFamily="18" charset="0"/>
                <a:cs typeface="Times New Roman" panose="02020603050405020304" pitchFamily="18" charset="0"/>
              </a:rPr>
              <a:t>Hardware Requirements</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Processor:</a:t>
            </a:r>
            <a:r>
              <a:rPr lang="en-IN" sz="2000" dirty="0">
                <a:latin typeface="Times New Roman" panose="02020603050405020304" pitchFamily="18" charset="0"/>
                <a:cs typeface="Times New Roman" panose="02020603050405020304" pitchFamily="18" charset="0"/>
              </a:rPr>
              <a:t> Intel Core i3 or equivalent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RAM:</a:t>
            </a:r>
            <a:r>
              <a:rPr lang="en-IN" sz="2000" dirty="0">
                <a:latin typeface="Times New Roman" panose="02020603050405020304" pitchFamily="18" charset="0"/>
                <a:cs typeface="Times New Roman" panose="02020603050405020304" pitchFamily="18" charset="0"/>
              </a:rPr>
              <a:t> 4 GB or above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Storage:</a:t>
            </a:r>
            <a:r>
              <a:rPr lang="en-IN" sz="2000" dirty="0">
                <a:latin typeface="Times New Roman" panose="02020603050405020304" pitchFamily="18" charset="0"/>
                <a:cs typeface="Times New Roman" panose="02020603050405020304" pitchFamily="18" charset="0"/>
              </a:rPr>
              <a:t> 500 MB free space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Input:</a:t>
            </a:r>
            <a:r>
              <a:rPr lang="en-IN" sz="2000" dirty="0">
                <a:latin typeface="Times New Roman" panose="02020603050405020304" pitchFamily="18" charset="0"/>
                <a:cs typeface="Times New Roman" panose="02020603050405020304" pitchFamily="18" charset="0"/>
              </a:rPr>
              <a:t> Keyboard and mouse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Display:</a:t>
            </a:r>
            <a:r>
              <a:rPr lang="en-IN" sz="2000" dirty="0">
                <a:latin typeface="Times New Roman" panose="02020603050405020304" pitchFamily="18" charset="0"/>
                <a:cs typeface="Times New Roman" panose="02020603050405020304" pitchFamily="18" charset="0"/>
              </a:rPr>
              <a:t> Standard monitor/laptop display </a:t>
            </a:r>
          </a:p>
          <a:p>
            <a:pPr marL="342900" lvl="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lgn="just">
              <a:buNone/>
            </a:pPr>
            <a:r>
              <a:rPr lang="en-IN" sz="2000" b="1" dirty="0">
                <a:latin typeface="Times New Roman" panose="02020603050405020304" pitchFamily="18" charset="0"/>
                <a:cs typeface="Times New Roman" panose="02020603050405020304" pitchFamily="18" charset="0"/>
              </a:rPr>
              <a:t>Software Requirements</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Operating System:</a:t>
            </a:r>
            <a:r>
              <a:rPr lang="en-IN" sz="2000" dirty="0">
                <a:latin typeface="Times New Roman" panose="02020603050405020304" pitchFamily="18" charset="0"/>
                <a:cs typeface="Times New Roman" panose="02020603050405020304" pitchFamily="18" charset="0"/>
              </a:rPr>
              <a:t> Windows 10/11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Programming Language:</a:t>
            </a:r>
            <a:r>
              <a:rPr lang="en-IN" sz="2000" dirty="0">
                <a:latin typeface="Times New Roman" panose="02020603050405020304" pitchFamily="18" charset="0"/>
                <a:cs typeface="Times New Roman" panose="02020603050405020304" pitchFamily="18" charset="0"/>
              </a:rPr>
              <a:t> Java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JDK:</a:t>
            </a:r>
            <a:r>
              <a:rPr lang="en-IN" sz="2000" dirty="0">
                <a:latin typeface="Times New Roman" panose="02020603050405020304" pitchFamily="18" charset="0"/>
                <a:cs typeface="Times New Roman" panose="02020603050405020304" pitchFamily="18" charset="0"/>
              </a:rPr>
              <a:t> JDK 17 or above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IDE:</a:t>
            </a:r>
            <a:r>
              <a:rPr lang="en-IN" sz="2000" dirty="0">
                <a:latin typeface="Times New Roman" panose="02020603050405020304" pitchFamily="18" charset="0"/>
                <a:cs typeface="Times New Roman" panose="02020603050405020304" pitchFamily="18" charset="0"/>
              </a:rPr>
              <a:t> Visual Studio Code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Java Extension:</a:t>
            </a:r>
            <a:r>
              <a:rPr lang="en-IN" sz="2000" dirty="0">
                <a:latin typeface="Times New Roman" panose="02020603050405020304" pitchFamily="18" charset="0"/>
                <a:cs typeface="Times New Roman" panose="02020603050405020304" pitchFamily="18" charset="0"/>
              </a:rPr>
              <a:t> Microsoft Java Extension Pack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Input Data:</a:t>
            </a:r>
            <a:r>
              <a:rPr lang="en-IN" sz="2000" dirty="0">
                <a:latin typeface="Times New Roman" panose="02020603050405020304" pitchFamily="18" charset="0"/>
                <a:cs typeface="Times New Roman" panose="02020603050405020304" pitchFamily="18" charset="0"/>
              </a:rPr>
              <a:t> Text files (emails.txt, spam_keywords.txt)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Execution:</a:t>
            </a:r>
            <a:r>
              <a:rPr lang="en-IN" sz="2000" dirty="0">
                <a:latin typeface="Times New Roman" panose="02020603050405020304" pitchFamily="18" charset="0"/>
                <a:cs typeface="Times New Roman" panose="02020603050405020304" pitchFamily="18" charset="0"/>
              </a:rPr>
              <a:t> Windows Command Prompt / VS Code Terminal</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D1D84C1C-A714-173F-89A4-E30FB760F43E}"/>
              </a:ext>
            </a:extLst>
          </p:cNvPr>
          <p:cNvSpPr txBox="1"/>
          <p:nvPr/>
        </p:nvSpPr>
        <p:spPr>
          <a:xfrm>
            <a:off x="813127" y="1657422"/>
            <a:ext cx="10565745" cy="3785652"/>
          </a:xfrm>
          <a:prstGeom prst="rect">
            <a:avLst/>
          </a:prstGeom>
          <a:noFill/>
        </p:spPr>
        <p:txBody>
          <a:bodyPr wrap="square">
            <a:spAutoFit/>
          </a:bodyPr>
          <a:lstStyle/>
          <a:p>
            <a:pPr algn="just">
              <a:buNone/>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Email Analysis for Detecting Spam Messages</a:t>
            </a:r>
            <a:r>
              <a:rPr lang="en-IN" sz="2400" dirty="0">
                <a:latin typeface="Times New Roman" panose="02020603050405020304" pitchFamily="18" charset="0"/>
                <a:cs typeface="Times New Roman" panose="02020603050405020304" pitchFamily="18" charset="0"/>
              </a:rPr>
              <a:t> project successfully demonstrates the use of different </a:t>
            </a:r>
            <a:r>
              <a:rPr lang="en-IN" sz="2400" b="1" dirty="0">
                <a:latin typeface="Times New Roman" panose="02020603050405020304" pitchFamily="18" charset="0"/>
                <a:cs typeface="Times New Roman" panose="02020603050405020304" pitchFamily="18" charset="0"/>
              </a:rPr>
              <a:t>Data Structures and Algorithms</a:t>
            </a:r>
            <a:r>
              <a:rPr lang="en-IN" sz="2400" dirty="0">
                <a:latin typeface="Times New Roman" panose="02020603050405020304" pitchFamily="18" charset="0"/>
                <a:cs typeface="Times New Roman" panose="02020603050405020304" pitchFamily="18" charset="0"/>
              </a:rPr>
              <a:t> for detecting spam emails. By combining string-matching techniques, Dynamic Programming, network flow, greedy approximation, randomized hashing, and parallel processing, the system can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email content and classify messages as </a:t>
            </a:r>
            <a:r>
              <a:rPr lang="en-IN" sz="2400" b="1" dirty="0">
                <a:latin typeface="Times New Roman" panose="02020603050405020304" pitchFamily="18" charset="0"/>
                <a:cs typeface="Times New Roman" panose="02020603050405020304" pitchFamily="18" charset="0"/>
              </a:rPr>
              <a:t>SPAM</a:t>
            </a:r>
            <a:r>
              <a:rPr lang="en-IN" sz="2400" dirty="0">
                <a:latin typeface="Times New Roman" panose="02020603050405020304" pitchFamily="18" charset="0"/>
                <a:cs typeface="Times New Roman" panose="02020603050405020304" pitchFamily="18" charset="0"/>
              </a:rPr>
              <a:t> or </a:t>
            </a:r>
            <a:r>
              <a:rPr lang="en-IN" sz="2400" b="1" dirty="0">
                <a:latin typeface="Times New Roman" panose="02020603050405020304" pitchFamily="18" charset="0"/>
                <a:cs typeface="Times New Roman" panose="02020603050405020304" pitchFamily="18" charset="0"/>
              </a:rPr>
              <a:t>NOT SPAM</a:t>
            </a:r>
            <a:r>
              <a:rPr lang="en-IN" sz="2400" dirty="0">
                <a:latin typeface="Times New Roman" panose="02020603050405020304" pitchFamily="18" charset="0"/>
                <a:cs typeface="Times New Roman" panose="02020603050405020304" pitchFamily="18" charset="0"/>
              </a:rPr>
              <a:t>.</a:t>
            </a:r>
          </a:p>
          <a:p>
            <a:pPr algn="just">
              <a:buNone/>
            </a:pPr>
            <a:r>
              <a:rPr lang="en-IN" sz="2400" dirty="0">
                <a:latin typeface="Times New Roman" panose="02020603050405020304" pitchFamily="18" charset="0"/>
                <a:cs typeface="Times New Roman" panose="02020603050405020304" pitchFamily="18" charset="0"/>
              </a:rPr>
              <a:t>The project provides a simple and practical way to understand how DSA concepts can be applied to a real-world problem. It also shows how multiple algorithms can work together to improve the analysis process and generate meaningful results from email 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EDFB923C-157B-3456-90C6-00C4FE0EEC27}"/>
              </a:ext>
            </a:extLst>
          </p:cNvPr>
          <p:cNvSpPr txBox="1"/>
          <p:nvPr/>
        </p:nvSpPr>
        <p:spPr>
          <a:xfrm>
            <a:off x="1262462" y="1999314"/>
            <a:ext cx="9362276" cy="3416320"/>
          </a:xfrm>
          <a:prstGeom prst="rect">
            <a:avLst/>
          </a:prstGeom>
          <a:noFill/>
        </p:spPr>
        <p:txBody>
          <a:bodyPr wrap="square">
            <a:spAutoFit/>
          </a:bodyPr>
          <a:lstStyle/>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Improve spam detection accuracy using </a:t>
            </a:r>
            <a:r>
              <a:rPr lang="en-IN" sz="2400" b="1" dirty="0">
                <a:latin typeface="Times New Roman" panose="02020603050405020304" pitchFamily="18" charset="0"/>
                <a:cs typeface="Times New Roman" panose="02020603050405020304" pitchFamily="18" charset="0"/>
              </a:rPr>
              <a:t>Machine Learning and AI techniques</a:t>
            </a:r>
            <a:r>
              <a:rPr lang="en-IN" sz="2400" dirty="0">
                <a:latin typeface="Times New Roman" panose="02020603050405020304" pitchFamily="18" charset="0"/>
                <a:cs typeface="Times New Roman" panose="02020603050405020304" pitchFamily="18" charset="0"/>
              </a:rPr>
              <a:t>.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Support larger email datasets and real-time email analysis.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Add </a:t>
            </a:r>
            <a:r>
              <a:rPr lang="en-IN" sz="2400" b="1" dirty="0">
                <a:latin typeface="Times New Roman" panose="02020603050405020304" pitchFamily="18" charset="0"/>
                <a:cs typeface="Times New Roman" panose="02020603050405020304" pitchFamily="18" charset="0"/>
              </a:rPr>
              <a:t>multilingual spam detection</a:t>
            </a:r>
            <a:r>
              <a:rPr lang="en-IN" sz="2400" dirty="0">
                <a:latin typeface="Times New Roman" panose="02020603050405020304" pitchFamily="18" charset="0"/>
                <a:cs typeface="Times New Roman" panose="02020603050405020304" pitchFamily="18" charset="0"/>
              </a:rPr>
              <a:t> for different languages.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Develop a </a:t>
            </a:r>
            <a:r>
              <a:rPr lang="en-IN" sz="2400" b="1" dirty="0">
                <a:latin typeface="Times New Roman" panose="02020603050405020304" pitchFamily="18" charset="0"/>
                <a:cs typeface="Times New Roman" panose="02020603050405020304" pitchFamily="18" charset="0"/>
              </a:rPr>
              <a:t>web or mobile interface</a:t>
            </a:r>
            <a:r>
              <a:rPr lang="en-IN" sz="2400" dirty="0">
                <a:latin typeface="Times New Roman" panose="02020603050405020304" pitchFamily="18" charset="0"/>
                <a:cs typeface="Times New Roman" panose="02020603050405020304" pitchFamily="18" charset="0"/>
              </a:rPr>
              <a:t> for easier use.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Include attachment and suspicious-link analysis.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 advanced features to reduce </a:t>
            </a:r>
            <a:r>
              <a:rPr lang="en-IN" sz="2400" b="1" dirty="0">
                <a:latin typeface="Times New Roman" panose="02020603050405020304" pitchFamily="18" charset="0"/>
                <a:cs typeface="Times New Roman" panose="02020603050405020304" pitchFamily="18" charset="0"/>
              </a:rPr>
              <a:t>false positives and false negatives</a:t>
            </a:r>
            <a:r>
              <a:rPr lang="en-IN" sz="2400" dirty="0">
                <a:latin typeface="Times New Roman" panose="02020603050405020304" pitchFamily="18" charset="0"/>
                <a:cs typeface="Times New Roman" panose="02020603050405020304" pitchFamily="18" charset="0"/>
              </a:rPr>
              <a:t>. </a:t>
            </a:r>
          </a:p>
          <a:p>
            <a:pPr marL="342900" lvl="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Integrate the system with real email services for </a:t>
            </a:r>
            <a:r>
              <a:rPr lang="en-IN" sz="2400" b="1" dirty="0">
                <a:latin typeface="Times New Roman" panose="02020603050405020304" pitchFamily="18" charset="0"/>
                <a:cs typeface="Times New Roman" panose="02020603050405020304" pitchFamily="18" charset="0"/>
              </a:rPr>
              <a:t>automatic spam filtering</a:t>
            </a:r>
            <a:r>
              <a:rPr lang="en-IN" sz="24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1077</Words>
  <Application>Microsoft Office PowerPoint</Application>
  <PresentationFormat>Widescreen</PresentationFormat>
  <Paragraphs>73</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Email Content Analysis for Detecting Spam Messages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Venkat Sai Krishna</cp:lastModifiedBy>
  <cp:revision>23</cp:revision>
  <dcterms:created xsi:type="dcterms:W3CDTF">2024-08-29T05:25:00Z</dcterms:created>
  <dcterms:modified xsi:type="dcterms:W3CDTF">2026-09-12T06:53:54Z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