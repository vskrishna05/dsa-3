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64" r:id="rId4"/>
    <p:sldId id="258" r:id="rId5"/>
    <p:sldId id="261" r:id="rId6"/>
    <p:sldId id="265" r:id="rId7"/>
    <p:sldId id="259" r:id="rId8"/>
    <p:sldId id="267" r:id="rId9"/>
    <p:sldId id="266" r:id="rId10"/>
    <p:sldId id="260" r:id="rId11"/>
    <p:sldId id="269" r:id="rId12"/>
    <p:sldId id="270" r:id="rId13"/>
    <p:sldId id="271" r:id="rId14"/>
    <p:sldId id="272" r:id="rId15"/>
    <p:sldId id="262" r:id="rId16"/>
    <p:sldId id="26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105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5B1BC09-D557-492E-9C5D-E4CF9E078DE2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EED5C5B-9EF4-44F9-8A5E-F9CA765F3D63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  <a:alpha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1" descr="KL University Hyderabad"/>
          <p:cNvPicPr>
            <a:picLocks noChangeAspect="1" noChangeArrowheads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4450"/>
            <a:ext cx="2101850" cy="900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7"/>
          <p:cNvSpPr/>
          <p:nvPr userDrawn="1"/>
        </p:nvSpPr>
        <p:spPr>
          <a:xfrm>
            <a:off x="0" y="6811963"/>
            <a:ext cx="12192000" cy="46037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46038"/>
          </a:xfrm>
          <a:prstGeom prst="rect">
            <a:avLst/>
          </a:prstGeom>
          <a:solidFill>
            <a:srgbClr val="BA25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/>
          </a:p>
        </p:txBody>
      </p:sp>
      <p:pic>
        <p:nvPicPr>
          <p:cNvPr id="10" name="Picture 6" descr="Background pattern&#10;&#10;Description automatically generated"/>
          <p:cNvPicPr>
            <a:picLocks noChangeAspect="1" noChangeArrowheads="1"/>
          </p:cNvPicPr>
          <p:nvPr userDrawn="1"/>
        </p:nvPicPr>
        <p:blipFill>
          <a:blip r:embed="rId1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03550" cy="3003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3179" y="614819"/>
            <a:ext cx="10085639" cy="2316702"/>
          </a:xfrm>
        </p:spPr>
        <p:txBody>
          <a:bodyPr/>
          <a:lstStyle/>
          <a:p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Structures and Algorithms -3 (25CS2103E)</a:t>
            </a: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6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 Content Analysis for Detecting Spam Messages </a:t>
            </a:r>
            <a:endParaRPr lang="en-US" sz="36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0356" y="3250000"/>
            <a:ext cx="4551284" cy="2700000"/>
          </a:xfrm>
        </p:spPr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IN" sz="2000" b="0" dirty="0">
                <a:latin typeface="Times New Roman"/>
                <a:cs typeface="Times New Roman"/>
              </a:rPr>
              <a:t>Submitted by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0" dirty="0">
                <a:solidFill>
                  <a:schemeClr val="accent1"/>
                </a:solidFill>
                <a:latin typeface="Times New Roman"/>
                <a:cs typeface="Times New Roman"/>
              </a:rPr>
              <a:t>Venkata Sai Krishna (2520030027)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0" dirty="0">
                <a:solidFill>
                  <a:schemeClr val="accent1"/>
                </a:solidFill>
                <a:latin typeface="Times New Roman"/>
                <a:cs typeface="Times New Roman"/>
              </a:rPr>
              <a:t>Pujith Pavan Kumar (2520030029)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IN" sz="2200" b="0" dirty="0">
                <a:solidFill>
                  <a:schemeClr val="accent1"/>
                </a:solidFill>
                <a:latin typeface="Times New Roman"/>
                <a:cs typeface="Times New Roman"/>
              </a:rPr>
              <a:t>Ajai Manikanta (2520030320)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IN" sz="2200" b="0" dirty="0">
                <a:latin typeface="Times New Roman"/>
                <a:cs typeface="Times New Roman"/>
              </a:rPr>
              <a:t>Under the Esteemed Guidance of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1" dirty="0">
                <a:latin typeface="Times New Roman"/>
                <a:cs typeface="Times New Roman"/>
              </a:rPr>
              <a:t>Dr S Madhavi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2200" b="1" dirty="0">
                <a:latin typeface="Times New Roman"/>
                <a:cs typeface="Times New Roman"/>
              </a:rPr>
              <a:t>Professor, CSE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C70C049-38C4-198F-3181-AACE07DE24AE}"/>
              </a:ext>
            </a:extLst>
          </p:cNvPr>
          <p:cNvSpPr txBox="1"/>
          <p:nvPr/>
        </p:nvSpPr>
        <p:spPr>
          <a:xfrm>
            <a:off x="3736109" y="1250000"/>
            <a:ext cx="4719782" cy="50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Introduction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Problem Statement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Project Workflow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Algorithms Used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Spam Analysis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Tools &amp; Technologies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Results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Expected Outcomes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Conclusion</a:t>
            </a:r>
          </a:p>
          <a:p>
            <a:pPr marL="457200" indent="-4572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libri"/>
              </a:rPr>
              <a:t>Future Scope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AC2F32-24D5-FDE9-EB0F-31C7733C95E6}"/>
              </a:ext>
            </a:extLst>
          </p:cNvPr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A499C0-FC38-6642-1E16-B8CFFC9C9314}"/>
              </a:ext>
            </a:extLst>
          </p:cNvPr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  <p:sp>
        <p:nvSpPr>
          <p:cNvPr id="101" name="Intro Points"/>
          <p:cNvSpPr txBox="1"/>
          <p:nvPr/>
        </p:nvSpPr>
        <p:spPr>
          <a:xfrm>
            <a:off x="1196000" y="1250000"/>
            <a:ext cx="9800000" cy="30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Spam emails may contain fake offers, suspicious links or misleading messages.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Checking a large number of emails manually takes time.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Our project analyzes the actual content of an email.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It searches for suspicious words and patterns using DSA algorithms.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Finally, the email is classified as SPAM or NOT SPAM.</a:t>
            </a:r>
          </a:p>
        </p:txBody>
      </p:sp>
      <p:sp>
        <p:nvSpPr>
          <p:cNvPr id="102" name="Highlight Line"/>
          <p:cNvSpPr/>
          <p:nvPr/>
        </p:nvSpPr>
        <p:spPr>
          <a:xfrm>
            <a:off x="1196000" y="4500000"/>
            <a:ext cx="9800000" cy="75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DSA concepts are used to solve a practical email analysis problem.</a:t>
            </a:r>
          </a:p>
        </p:txBody>
      </p:sp>
    </p:spTree>
    <p:extLst>
      <p:ext uri="{BB962C8B-B14F-4D97-AF65-F5344CB8AC3E}">
        <p14:creationId xmlns:p14="http://schemas.microsoft.com/office/powerpoint/2010/main" val="1672422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Problem Statement</a:t>
            </a:r>
          </a:p>
        </p:txBody>
      </p:sp>
      <p:sp>
        <p:nvSpPr>
          <p:cNvPr id="103" name="Problem Text"/>
          <p:cNvSpPr txBox="1"/>
          <p:nvPr/>
        </p:nvSpPr>
        <p:spPr>
          <a:xfrm>
            <a:off x="1196000" y="1250000"/>
            <a:ext cx="9800000" cy="48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Spam emails are common and may contain fake prizes, account warnings, financial scams or suspicious links.</a:t>
            </a:r>
          </a:p>
          <a:p>
            <a:pPr marL="0" indent="0" algn="l">
              <a:spcAft>
                <a:spcPts val="1400"/>
              </a:spcAft>
              <a:buNone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Manually checking every message is difficult when the number of emails increases.</a:t>
            </a:r>
          </a:p>
          <a:p>
            <a:pPr marL="0" indent="0" algn="l">
              <a:spcAft>
                <a:spcPts val="800"/>
              </a:spcAft>
              <a:buNone/>
            </a:pPr>
            <a:r>
              <a:rPr lang="en-IN" sz="2200" b="1" i="0" dirty="0">
                <a:solidFill>
                  <a:srgbClr val="000000"/>
                </a:solidFill>
                <a:latin typeface="Times New Roman"/>
                <a:cs typeface="Times New Roman"/>
              </a:rPr>
              <a:t>Therefore, we need a simple system that can: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Read email content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Detect suspicious patterns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Analyze spam-related features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Identify suspicious URLs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Calculate a spam score</a:t>
            </a:r>
          </a:p>
          <a:p>
            <a:pPr marL="342900" indent="-342900" algn="l">
              <a:spcAft>
                <a:spcPts val="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Classify the email as SPAM or NOT SPAM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Project Workflow</a:t>
            </a:r>
          </a:p>
        </p:txBody>
      </p:sp>
      <p:sp>
        <p:nvSpPr>
          <p:cNvPr id="104" name="Step 1"/>
          <p:cNvSpPr/>
          <p:nvPr/>
        </p:nvSpPr>
        <p:spPr>
          <a:xfrm>
            <a:off x="3736109" y="12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Load Email</a:t>
            </a:r>
          </a:p>
        </p:txBody>
      </p:sp>
      <p:sp>
        <p:nvSpPr>
          <p:cNvPr id="105" name="Arrow 1"/>
          <p:cNvSpPr/>
          <p:nvPr/>
        </p:nvSpPr>
        <p:spPr>
          <a:xfrm>
            <a:off x="5976000" y="16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6" name="Step 2"/>
          <p:cNvSpPr/>
          <p:nvPr/>
        </p:nvSpPr>
        <p:spPr>
          <a:xfrm>
            <a:off x="3736109" y="18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Preprocess Text</a:t>
            </a:r>
          </a:p>
        </p:txBody>
      </p:sp>
      <p:sp>
        <p:nvSpPr>
          <p:cNvPr id="107" name="Arrow 2"/>
          <p:cNvSpPr/>
          <p:nvPr/>
        </p:nvSpPr>
        <p:spPr>
          <a:xfrm>
            <a:off x="5976000" y="22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8" name="Step 3"/>
          <p:cNvSpPr/>
          <p:nvPr/>
        </p:nvSpPr>
        <p:spPr>
          <a:xfrm>
            <a:off x="3736109" y="24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Search Spam Patterns</a:t>
            </a:r>
          </a:p>
        </p:txBody>
      </p:sp>
      <p:sp>
        <p:nvSpPr>
          <p:cNvPr id="109" name="Arrow 3"/>
          <p:cNvSpPr/>
          <p:nvPr/>
        </p:nvSpPr>
        <p:spPr>
          <a:xfrm>
            <a:off x="5976000" y="28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0" name="Step 4"/>
          <p:cNvSpPr/>
          <p:nvPr/>
        </p:nvSpPr>
        <p:spPr>
          <a:xfrm>
            <a:off x="3736109" y="30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Analyze Detected Features</a:t>
            </a:r>
          </a:p>
        </p:txBody>
      </p:sp>
      <p:sp>
        <p:nvSpPr>
          <p:cNvPr id="111" name="Arrow 4"/>
          <p:cNvSpPr/>
          <p:nvPr/>
        </p:nvSpPr>
        <p:spPr>
          <a:xfrm>
            <a:off x="5976000" y="34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Step 5"/>
          <p:cNvSpPr/>
          <p:nvPr/>
        </p:nvSpPr>
        <p:spPr>
          <a:xfrm>
            <a:off x="3736109" y="36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Calculate Spam Score</a:t>
            </a:r>
          </a:p>
        </p:txBody>
      </p:sp>
      <p:sp>
        <p:nvSpPr>
          <p:cNvPr id="113" name="Arrow 5"/>
          <p:cNvSpPr/>
          <p:nvPr/>
        </p:nvSpPr>
        <p:spPr>
          <a:xfrm>
            <a:off x="5976000" y="40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Step 6"/>
          <p:cNvSpPr/>
          <p:nvPr/>
        </p:nvSpPr>
        <p:spPr>
          <a:xfrm>
            <a:off x="3736109" y="42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Check URLs &amp; Risk</a:t>
            </a:r>
          </a:p>
        </p:txBody>
      </p:sp>
      <p:sp>
        <p:nvSpPr>
          <p:cNvPr id="115" name="Arrow 6"/>
          <p:cNvSpPr/>
          <p:nvPr/>
        </p:nvSpPr>
        <p:spPr>
          <a:xfrm>
            <a:off x="5976000" y="46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Step 7"/>
          <p:cNvSpPr/>
          <p:nvPr/>
        </p:nvSpPr>
        <p:spPr>
          <a:xfrm>
            <a:off x="3736109" y="48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SPAM / NOT SPAM</a:t>
            </a:r>
          </a:p>
        </p:txBody>
      </p:sp>
      <p:sp>
        <p:nvSpPr>
          <p:cNvPr id="117" name="Arrow 7"/>
          <p:cNvSpPr/>
          <p:nvPr/>
        </p:nvSpPr>
        <p:spPr>
          <a:xfrm>
            <a:off x="5976000" y="5250000"/>
            <a:ext cx="24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8" name="Step 8"/>
          <p:cNvSpPr/>
          <p:nvPr/>
        </p:nvSpPr>
        <p:spPr>
          <a:xfrm>
            <a:off x="3736109" y="5400000"/>
            <a:ext cx="4719782" cy="43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Generate Result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2734187" y="221673"/>
            <a:ext cx="6723625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String Matching Algorithms</a:t>
            </a:r>
          </a:p>
        </p:txBody>
      </p:sp>
      <p:sp>
        <p:nvSpPr>
          <p:cNvPr id="119" name="Card 1"/>
          <p:cNvSpPr/>
          <p:nvPr/>
        </p:nvSpPr>
        <p:spPr>
          <a:xfrm>
            <a:off x="1196000" y="1250000"/>
            <a:ext cx="480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1. KMP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Uses the LPS table to search for a pattern efficiently.</a:t>
            </a:r>
          </a:p>
        </p:txBody>
      </p:sp>
      <p:sp>
        <p:nvSpPr>
          <p:cNvPr id="120" name="Card 2"/>
          <p:cNvSpPr/>
          <p:nvPr/>
        </p:nvSpPr>
        <p:spPr>
          <a:xfrm>
            <a:off x="6196000" y="1250000"/>
            <a:ext cx="480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2. Rabin-Karp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Uses hashing to search for matching text.</a:t>
            </a:r>
          </a:p>
        </p:txBody>
      </p:sp>
      <p:sp>
        <p:nvSpPr>
          <p:cNvPr id="121" name="Card 3"/>
          <p:cNvSpPr/>
          <p:nvPr/>
        </p:nvSpPr>
        <p:spPr>
          <a:xfrm>
            <a:off x="1196000" y="3150000"/>
            <a:ext cx="480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3. Z-Algorithm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Uses a Z-array to identify pattern matches.</a:t>
            </a:r>
          </a:p>
        </p:txBody>
      </p:sp>
      <p:sp>
        <p:nvSpPr>
          <p:cNvPr id="122" name="Card 4"/>
          <p:cNvSpPr/>
          <p:nvPr/>
        </p:nvSpPr>
        <p:spPr>
          <a:xfrm>
            <a:off x="6196000" y="3150000"/>
            <a:ext cx="4800000" cy="17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4. Aho-Corasick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Searches for multiple spam patterns together.</a:t>
            </a:r>
          </a:p>
        </p:txBody>
      </p:sp>
      <p:sp>
        <p:nvSpPr>
          <p:cNvPr id="123" name="Note"/>
          <p:cNvSpPr txBox="1"/>
          <p:nvPr/>
        </p:nvSpPr>
        <p:spPr>
          <a:xfrm>
            <a:off x="1196000" y="5050000"/>
            <a:ext cx="98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2000" b="0" i="1" dirty="0">
                <a:solidFill>
                  <a:srgbClr val="000000"/>
                </a:solidFill>
                <a:latin typeface="Times New Roman"/>
                <a:cs typeface="Times New Roman"/>
              </a:rPr>
              <a:t>These algorithms help us find suspicious words and phrases in email content.</a:t>
            </a:r>
          </a:p>
        </p:txBody>
      </p:sp>
    </p:spTree>
    <p:extLst>
      <p:ext uri="{BB962C8B-B14F-4D97-AF65-F5344CB8AC3E}">
        <p14:creationId xmlns:p14="http://schemas.microsoft.com/office/powerpoint/2010/main" val="3441026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Other DSA Algorithms</a:t>
            </a:r>
          </a:p>
        </p:txBody>
      </p:sp>
      <p:sp>
        <p:nvSpPr>
          <p:cNvPr id="124" name="Label 1"/>
          <p:cNvSpPr/>
          <p:nvPr/>
        </p:nvSpPr>
        <p:spPr>
          <a:xfrm>
            <a:off x="1196000" y="1250000"/>
            <a:ext cx="3900000" cy="60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Bitmask Dynamic Programming</a:t>
            </a:r>
          </a:p>
        </p:txBody>
      </p:sp>
      <p:sp>
        <p:nvSpPr>
          <p:cNvPr id="125" name="Description 1"/>
          <p:cNvSpPr txBox="1"/>
          <p:nvPr/>
        </p:nvSpPr>
        <p:spPr>
          <a:xfrm>
            <a:off x="5396000" y="1250000"/>
            <a:ext cx="56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Checks combinations of detected spam features.</a:t>
            </a:r>
          </a:p>
        </p:txBody>
      </p:sp>
      <p:sp>
        <p:nvSpPr>
          <p:cNvPr id="126" name="Label 2"/>
          <p:cNvSpPr/>
          <p:nvPr/>
        </p:nvSpPr>
        <p:spPr>
          <a:xfrm>
            <a:off x="1196000" y="2080000"/>
            <a:ext cx="3900000" cy="60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Edmonds-Karp</a:t>
            </a:r>
          </a:p>
        </p:txBody>
      </p:sp>
      <p:sp>
        <p:nvSpPr>
          <p:cNvPr id="127" name="Description 2"/>
          <p:cNvSpPr txBox="1"/>
          <p:nvPr/>
        </p:nvSpPr>
        <p:spPr>
          <a:xfrm>
            <a:off x="5396000" y="2080000"/>
            <a:ext cx="56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Uses the maximum-flow concept for feature analysis.</a:t>
            </a:r>
          </a:p>
        </p:txBody>
      </p:sp>
      <p:sp>
        <p:nvSpPr>
          <p:cNvPr id="128" name="Label 3"/>
          <p:cNvSpPr/>
          <p:nvPr/>
        </p:nvSpPr>
        <p:spPr>
          <a:xfrm>
            <a:off x="1196000" y="2910000"/>
            <a:ext cx="3900000" cy="60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Greedy Set Cover</a:t>
            </a:r>
          </a:p>
        </p:txBody>
      </p:sp>
      <p:sp>
        <p:nvSpPr>
          <p:cNvPr id="129" name="Description 3"/>
          <p:cNvSpPr txBox="1"/>
          <p:nvPr/>
        </p:nvSpPr>
        <p:spPr>
          <a:xfrm>
            <a:off x="5396000" y="2910000"/>
            <a:ext cx="56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Selects useful rules that cover detected spam features.</a:t>
            </a:r>
          </a:p>
        </p:txBody>
      </p:sp>
      <p:sp>
        <p:nvSpPr>
          <p:cNvPr id="130" name="Label 4"/>
          <p:cNvSpPr/>
          <p:nvPr/>
        </p:nvSpPr>
        <p:spPr>
          <a:xfrm>
            <a:off x="1196000" y="3740000"/>
            <a:ext cx="3900000" cy="60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Randomized Hashing</a:t>
            </a:r>
          </a:p>
        </p:txBody>
      </p:sp>
      <p:sp>
        <p:nvSpPr>
          <p:cNvPr id="131" name="Description 4"/>
          <p:cNvSpPr txBox="1"/>
          <p:nvPr/>
        </p:nvSpPr>
        <p:spPr>
          <a:xfrm>
            <a:off x="5396000" y="3740000"/>
            <a:ext cx="56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Generates a hash value for email content.</a:t>
            </a:r>
          </a:p>
        </p:txBody>
      </p:sp>
      <p:sp>
        <p:nvSpPr>
          <p:cNvPr id="132" name="Label 5"/>
          <p:cNvSpPr/>
          <p:nvPr/>
        </p:nvSpPr>
        <p:spPr>
          <a:xfrm>
            <a:off x="1196000" y="4570000"/>
            <a:ext cx="3900000" cy="60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Parallel Processing</a:t>
            </a:r>
          </a:p>
        </p:txBody>
      </p:sp>
      <p:sp>
        <p:nvSpPr>
          <p:cNvPr id="133" name="Description 5"/>
          <p:cNvSpPr txBox="1"/>
          <p:nvPr/>
        </p:nvSpPr>
        <p:spPr>
          <a:xfrm>
            <a:off x="5396000" y="4570000"/>
            <a:ext cx="5600000" cy="60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Processes multiple emails using multiple threads.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kern="0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Spam Analysis</a:t>
            </a:r>
            <a:endParaRPr lang="en-US" sz="3200" b="1" dirty="0">
              <a:solidFill>
                <a:schemeClr val="bg1"/>
              </a:solidFill>
            </a:endParaRPr>
          </a:p>
        </p:txBody>
      </p:sp>
      <p:sp>
        <p:nvSpPr>
          <p:cNvPr id="134" name="Analysis Step 1"/>
          <p:cNvSpPr/>
          <p:nvPr/>
        </p:nvSpPr>
        <p:spPr>
          <a:xfrm>
            <a:off x="1196000" y="125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Suspicious words found</a:t>
            </a:r>
          </a:p>
        </p:txBody>
      </p:sp>
      <p:sp>
        <p:nvSpPr>
          <p:cNvPr id="135" name="Analysis Arrow 1"/>
          <p:cNvSpPr/>
          <p:nvPr/>
        </p:nvSpPr>
        <p:spPr>
          <a:xfrm>
            <a:off x="3036000" y="1760000"/>
            <a:ext cx="22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6" name="Analysis Step 2"/>
          <p:cNvSpPr/>
          <p:nvPr/>
        </p:nvSpPr>
        <p:spPr>
          <a:xfrm>
            <a:off x="1196000" y="192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Matched patterns</a:t>
            </a:r>
          </a:p>
        </p:txBody>
      </p:sp>
      <p:sp>
        <p:nvSpPr>
          <p:cNvPr id="137" name="Analysis Arrow 2"/>
          <p:cNvSpPr/>
          <p:nvPr/>
        </p:nvSpPr>
        <p:spPr>
          <a:xfrm>
            <a:off x="3036000" y="2430000"/>
            <a:ext cx="22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8" name="Analysis Step 3"/>
          <p:cNvSpPr/>
          <p:nvPr/>
        </p:nvSpPr>
        <p:spPr>
          <a:xfrm>
            <a:off x="1196000" y="259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Feature score</a:t>
            </a:r>
          </a:p>
        </p:txBody>
      </p:sp>
      <p:sp>
        <p:nvSpPr>
          <p:cNvPr id="139" name="Analysis Arrow 3"/>
          <p:cNvSpPr/>
          <p:nvPr/>
        </p:nvSpPr>
        <p:spPr>
          <a:xfrm>
            <a:off x="3036000" y="3100000"/>
            <a:ext cx="22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0" name="Analysis Step 4"/>
          <p:cNvSpPr/>
          <p:nvPr/>
        </p:nvSpPr>
        <p:spPr>
          <a:xfrm>
            <a:off x="1196000" y="326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URL analysis</a:t>
            </a:r>
          </a:p>
        </p:txBody>
      </p:sp>
      <p:sp>
        <p:nvSpPr>
          <p:cNvPr id="141" name="Analysis Arrow 4"/>
          <p:cNvSpPr/>
          <p:nvPr/>
        </p:nvSpPr>
        <p:spPr>
          <a:xfrm>
            <a:off x="3036000" y="3770000"/>
            <a:ext cx="22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2" name="Analysis Step 5"/>
          <p:cNvSpPr/>
          <p:nvPr/>
        </p:nvSpPr>
        <p:spPr>
          <a:xfrm>
            <a:off x="1196000" y="393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Risk &amp; confidence</a:t>
            </a:r>
          </a:p>
        </p:txBody>
      </p:sp>
      <p:sp>
        <p:nvSpPr>
          <p:cNvPr id="143" name="Analysis Arrow 5"/>
          <p:cNvSpPr/>
          <p:nvPr/>
        </p:nvSpPr>
        <p:spPr>
          <a:xfrm>
            <a:off x="3036000" y="4440000"/>
            <a:ext cx="220000" cy="1300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4" name="Analysis Step 6"/>
          <p:cNvSpPr/>
          <p:nvPr/>
        </p:nvSpPr>
        <p:spPr>
          <a:xfrm>
            <a:off x="1196000" y="4600000"/>
            <a:ext cx="39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1800" b="1" dirty="0">
                <a:solidFill>
                  <a:srgbClr val="FFFFFF"/>
                </a:solidFill>
              </a:rPr>
              <a:t>Final classification</a:t>
            </a:r>
          </a:p>
        </p:txBody>
      </p:sp>
      <p:sp>
        <p:nvSpPr>
          <p:cNvPr id="145" name="System Output"/>
          <p:cNvSpPr txBox="1"/>
          <p:nvPr/>
        </p:nvSpPr>
        <p:spPr>
          <a:xfrm>
            <a:off x="5596000" y="1250000"/>
            <a:ext cx="5400000" cy="31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spcAft>
                <a:spcPts val="800"/>
              </a:spcAft>
              <a:buNone/>
            </a:pPr>
            <a:r>
              <a:rPr lang="en-IN" sz="2200" b="1" i="0" dirty="0">
                <a:solidFill>
                  <a:srgbClr val="C00000"/>
                </a:solidFill>
                <a:latin typeface="Times New Roman"/>
                <a:cs typeface="Times New Roman"/>
              </a:rPr>
              <a:t>Information shown by the system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Matched Keywords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Spam Category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Confidence Score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Risk Level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URLs Detected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Suspicious URLs</a:t>
            </a:r>
          </a:p>
          <a:p>
            <a:pPr marL="342900" indent="-342900" algn="l">
              <a:spcAft>
                <a:spcPts val="300"/>
              </a:spcAft>
              <a:buFont typeface="Arial"/>
              <a:buChar char="•"/>
            </a:pPr>
            <a:r>
              <a:rPr lang="en-IN" sz="2000" b="0" i="0" dirty="0">
                <a:solidFill>
                  <a:srgbClr val="000000"/>
                </a:solidFill>
                <a:latin typeface="Times New Roman"/>
                <a:cs typeface="Times New Roman"/>
              </a:rPr>
              <a:t>Final Result</a:t>
            </a:r>
          </a:p>
        </p:txBody>
      </p:sp>
      <p:sp>
        <p:nvSpPr>
          <p:cNvPr id="146" name="Final Result Box"/>
          <p:cNvSpPr/>
          <p:nvPr/>
        </p:nvSpPr>
        <p:spPr>
          <a:xfrm>
            <a:off x="5596000" y="4600000"/>
            <a:ext cx="5400000" cy="48000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rIns="45720" bIns="0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Final Result:  SPAM  or  NOT SPAM</a:t>
            </a:r>
          </a:p>
        </p:txBody>
      </p:sp>
      <p:sp>
        <p:nvSpPr>
          <p:cNvPr id="147" name="Note"/>
          <p:cNvSpPr txBox="1"/>
          <p:nvPr/>
        </p:nvSpPr>
        <p:spPr>
          <a:xfrm>
            <a:off x="1196000" y="5380000"/>
            <a:ext cx="9800000" cy="45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1800" b="0" i="1" dirty="0">
                <a:solidFill>
                  <a:srgbClr val="000000"/>
                </a:solidFill>
                <a:latin typeface="Times New Roman"/>
                <a:cs typeface="Times New Roman"/>
              </a:rPr>
              <a:t>Based on DSA algorithms and rule / feature-based analysis.</a:t>
            </a:r>
          </a:p>
        </p:txBody>
      </p:sp>
    </p:spTree>
    <p:extLst>
      <p:ext uri="{BB962C8B-B14F-4D97-AF65-F5344CB8AC3E}">
        <p14:creationId xmlns:p14="http://schemas.microsoft.com/office/powerpoint/2010/main" val="106092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2734187" y="221673"/>
            <a:ext cx="6723625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kern="0" dirty="0">
                <a:solidFill>
                  <a:schemeClr val="bg1"/>
                </a:solidFill>
                <a:effectLst/>
                <a:ea typeface="Times New Roman" panose="02020603050405020304" pitchFamily="18" charset="0"/>
              </a:rPr>
              <a:t>Tools and Technologies Used</a:t>
            </a:r>
            <a:endParaRPr lang="en-US" sz="2800" b="1" dirty="0">
              <a:solidFill>
                <a:schemeClr val="bg1"/>
              </a:solidFill>
            </a:endParaRPr>
          </a:p>
        </p:txBody>
      </p:sp>
      <p:graphicFrame>
        <p:nvGraphicFramePr>
          <p:cNvPr id="148" name="Tools Table"/>
          <p:cNvGraphicFramePr>
            <a:graphicFrameLocks noGrp="1"/>
          </p:cNvGraphicFramePr>
          <p:nvPr/>
        </p:nvGraphicFramePr>
        <p:xfrm>
          <a:off x="1196000" y="1250000"/>
          <a:ext cx="9800000" cy="4560000"/>
        </p:xfrm>
        <a:graphic>
          <a:graphicData uri="http://schemas.openxmlformats.org/drawingml/2006/table">
            <a:tbl>
              <a:tblPr firstRow="1"/>
              <a:tblGrid>
                <a:gridCol w="3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0000">
                <a:tc>
                  <a:txBody>
                    <a:bodyPr/>
                    <a:lstStyle/>
                    <a:p>
                      <a:pPr algn="l"/>
                      <a:r>
                        <a:rPr lang="en-IN" sz="1800" b="1" i="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Category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1" i="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Tools / Technologies Used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Programming Languages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Java, HTML, CSS, JavaScript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Software / IDEs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Visual Studio Code, JDK 17 or above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Frameworks / Libraries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Java standard libraries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Databases / Platforms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Text files for data storage, Windows 10/11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Hardware / IoT Components (if applicable)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Not applicable. Standard laptop/desktop (Intel Core i3 or equivalent, 4 GB RAM)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Other Tools / Platforms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sz="1800" b="0" i="0" dirty="0">
                          <a:solidFill>
                            <a:srgbClr val="000000"/>
                          </a:solidFill>
                          <a:latin typeface="Times New Roman"/>
                          <a:cs typeface="Times New Roman"/>
                        </a:rPr>
                        <a:t>Chrome / Edge browser, VS Code Terminal / Command Prompt</a:t>
                      </a:r>
                    </a:p>
                  </a:txBody>
                  <a:tcPr marL="109728" marT="54864" marB="54864"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750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50" name="Screenshot Caption"/>
          <p:cNvSpPr txBox="1"/>
          <p:nvPr/>
        </p:nvSpPr>
        <p:spPr>
          <a:xfrm>
            <a:off x="1196000" y="5500000"/>
            <a:ext cx="9800000" cy="65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1800" b="1" i="0" dirty="0">
                <a:solidFill>
                  <a:srgbClr val="000000"/>
                </a:solidFill>
                <a:latin typeface="Times New Roman"/>
                <a:cs typeface="Times New Roman"/>
              </a:rPr>
              <a:t>Console email menu: </a:t>
            </a: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Starting screen of the console application.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EEF251-FF66-F126-D8F9-0DE092D84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9" y="1398967"/>
            <a:ext cx="5193781" cy="377167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52" name="Screenshot Caption"/>
          <p:cNvSpPr txBox="1"/>
          <p:nvPr/>
        </p:nvSpPr>
        <p:spPr>
          <a:xfrm>
            <a:off x="1196000" y="5500000"/>
            <a:ext cx="9800000" cy="65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1800" b="1" i="0" dirty="0">
                <a:solidFill>
                  <a:srgbClr val="000000"/>
                </a:solidFill>
                <a:latin typeface="Times New Roman"/>
                <a:cs typeface="Times New Roman"/>
              </a:rPr>
              <a:t>Individual email analysis: </a:t>
            </a: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Analyzes an individual email.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5DAC32-91EC-B03F-4713-C5D884A77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0740" y="1725078"/>
            <a:ext cx="4835416" cy="35730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776D858-3387-0B26-9C9F-074B4D26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665" y="1725078"/>
            <a:ext cx="4686334" cy="357302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54" name="Screenshot Caption"/>
          <p:cNvSpPr txBox="1"/>
          <p:nvPr/>
        </p:nvSpPr>
        <p:spPr>
          <a:xfrm>
            <a:off x="1196000" y="5500000"/>
            <a:ext cx="9800000" cy="65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1800" b="1" i="0" dirty="0">
                <a:solidFill>
                  <a:srgbClr val="000000"/>
                </a:solidFill>
                <a:latin typeface="Times New Roman"/>
                <a:cs typeface="Times New Roman"/>
              </a:rPr>
              <a:t>Algorithm comparison: </a:t>
            </a: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Shows matches from the implemented algorithms.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8CD0D6-E7D0-04B4-477E-D1DEFFAB1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11" y="1124625"/>
            <a:ext cx="7395775" cy="42731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156" name="Screenshot Caption"/>
          <p:cNvSpPr txBox="1"/>
          <p:nvPr/>
        </p:nvSpPr>
        <p:spPr>
          <a:xfrm>
            <a:off x="1196000" y="5500000"/>
            <a:ext cx="9800000" cy="650000"/>
          </a:xfrm>
          <a:prstGeom prst="rect">
            <a:avLst/>
          </a:prstGeom>
          <a:noFill/>
        </p:spPr>
        <p:txBody>
          <a:bodyPr wrap="square" lIns="0" tIns="45720" rIns="0" bIns="45720" rtlCol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</a:pPr>
            <a:r>
              <a:rPr lang="en-IN" sz="1800" b="1" i="0" dirty="0">
                <a:solidFill>
                  <a:srgbClr val="000000"/>
                </a:solidFill>
                <a:latin typeface="Times New Roman"/>
                <a:cs typeface="Times New Roman"/>
              </a:rPr>
              <a:t>Web interface: </a:t>
            </a: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Displays spam category, confidence and risk, with the final SPAM / NOT SPAM result.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838A2A-EF3B-EBCA-2614-750A7B64A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2355" y="919194"/>
            <a:ext cx="7427287" cy="46420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/>
          <p:cNvSpPr/>
          <p:nvPr/>
        </p:nvSpPr>
        <p:spPr>
          <a:xfrm>
            <a:off x="3736109" y="221673"/>
            <a:ext cx="4719782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Expected Outcomes</a:t>
            </a:r>
          </a:p>
        </p:txBody>
      </p:sp>
      <p:sp>
        <p:nvSpPr>
          <p:cNvPr id="157" name="Outcome Points"/>
          <p:cNvSpPr txBox="1"/>
          <p:nvPr/>
        </p:nvSpPr>
        <p:spPr>
          <a:xfrm>
            <a:off x="1195999" y="2093608"/>
            <a:ext cx="9800000" cy="35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Detect suspicious words and phrases in email content.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Show how different DSA algorithms work on the same email.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Give a spam score, category, confidence and risk level.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Identify suspicious URLs in the email.</a:t>
            </a:r>
          </a:p>
          <a:p>
            <a:pPr marL="342900" indent="-342900" algn="l">
              <a:spcAft>
                <a:spcPts val="1400"/>
              </a:spcAft>
              <a:buFont typeface="Arial"/>
              <a:buChar char="•"/>
            </a:pPr>
            <a:r>
              <a:rPr lang="en-IN" sz="2200" b="0" i="0" dirty="0">
                <a:solidFill>
                  <a:srgbClr val="000000"/>
                </a:solidFill>
                <a:latin typeface="Times New Roman"/>
                <a:cs typeface="Times New Roman"/>
              </a:rPr>
              <a:t>Give a clear SPAM / NOT SPAM result.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2734187" y="221673"/>
            <a:ext cx="6723625" cy="51723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2660072" y="187904"/>
            <a:ext cx="6871855" cy="584775"/>
          </a:xfrm>
          <a:prstGeom prst="rect">
            <a:avLst/>
          </a:prstGeom>
          <a:noFill/>
        </p:spPr>
        <p:txBody>
          <a:bodyPr wrap="square" tIns="0" bIns="0" rtlCol="0" anchor="ctr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Conclusion &amp; Future Scope</a:t>
            </a:r>
          </a:p>
        </p:txBody>
      </p:sp>
      <p:sp>
        <p:nvSpPr>
          <p:cNvPr id="158" name="Conclusion Card"/>
          <p:cNvSpPr/>
          <p:nvPr/>
        </p:nvSpPr>
        <p:spPr>
          <a:xfrm>
            <a:off x="1196000" y="1250000"/>
            <a:ext cx="4800000" cy="4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CONCLUSION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The system analyzes email content using DSA algorithms.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Suspicious words and patterns can be detected.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Multiple algorithms are demonstrated in one project.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Emails are classified as SPAM or NOT SPAM.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Results can be accessed through the console and web interface.</a:t>
            </a:r>
          </a:p>
        </p:txBody>
      </p:sp>
      <p:sp>
        <p:nvSpPr>
          <p:cNvPr id="159" name="Future Scope Card"/>
          <p:cNvSpPr/>
          <p:nvPr/>
        </p:nvSpPr>
        <p:spPr>
          <a:xfrm>
            <a:off x="6196000" y="1250000"/>
            <a:ext cx="4800000" cy="42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0000"/>
            </a:solidFill>
          </a:ln>
        </p:spPr>
        <p:txBody>
          <a:bodyPr wrap="square" lIns="182880" tIns="109728" rIns="137160" bIns="91440" rtlCol="0" anchor="t">
            <a:no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lang="en-IN" sz="2400" b="1" i="0" dirty="0">
                <a:solidFill>
                  <a:srgbClr val="C00000"/>
                </a:solidFill>
                <a:latin typeface="Times New Roman"/>
                <a:cs typeface="Times New Roman"/>
              </a:rPr>
              <a:t>FUTURE SCOPE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Improve spam detection rules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Support larger email datasets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Add Machine Learning in the future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Improve phishing-link detection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Add real email-service integration</a:t>
            </a:r>
          </a:p>
          <a:p>
            <a:pPr marL="342900" indent="-342900" algn="l">
              <a:spcAft>
                <a:spcPts val="700"/>
              </a:spcAft>
              <a:buFont typeface="Arial"/>
              <a:buChar char="•"/>
            </a:pPr>
            <a:r>
              <a:rPr lang="en-IN" sz="1800" b="0" i="0" dirty="0">
                <a:solidFill>
                  <a:srgbClr val="000000"/>
                </a:solidFill>
                <a:latin typeface="Times New Roman"/>
                <a:cs typeface="Times New Roman"/>
              </a:rPr>
              <a:t>Support more languages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/>
          <p:cNvSpPr/>
          <p:nvPr/>
        </p:nvSpPr>
        <p:spPr>
          <a:xfrm>
            <a:off x="3622873" y="2750090"/>
            <a:ext cx="4946253" cy="1357820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35434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672</Words>
  <Application>Microsoft Office PowerPoint</Application>
  <PresentationFormat>Widescreen</PresentationFormat>
  <Paragraphs>127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Times New Roman</vt:lpstr>
      <vt:lpstr>Office Theme</vt:lpstr>
      <vt:lpstr>       Data Structures and Algorithms -3 (25CS2103E)  Email Content Analysis for Detecting Spam Messages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Sirisha Devi</dc:creator>
  <cp:lastModifiedBy>Venkat Sai Krishna</cp:lastModifiedBy>
  <cp:revision>35</cp:revision>
  <dcterms:created xsi:type="dcterms:W3CDTF">2024-08-29T05:25:00Z</dcterms:created>
  <dcterms:modified xsi:type="dcterms:W3CDTF">2026-10-07T13:42:22Z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FB2A1F042FC047C6B4D7E0BF0C20B2E9_13</vt:lpwstr>
  </property>
  <property fmtid="{D5CDD505-2E9C-101B-9397-08002B2CF9AE}" pid="3" name="KSOProductBuildVer">
    <vt:lpwstr>1033-12.2.0.23131</vt:lpwstr>
  </property>
</Properties>
</file>