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9" r:id="rId12"/>
    <p:sldId id="270" r:id="rId13"/>
    <p:sldId id="271" r:id="rId14"/>
    <p:sldId id="272" r:id="rId15"/>
    <p:sldId id="262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0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3179" y="614819"/>
            <a:ext cx="10085639" cy="2316702"/>
          </a:xfrm>
        </p:spPr>
        <p:txBody>
          <a:bodyPr/>
          <a:lstStyle/>
          <a:p>
            <a:b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Algorithms -3 (25CS2103E)</a:t>
            </a:r>
            <a:b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 Content Analysis for Detecting Spam Messages </a:t>
            </a:r>
            <a:endParaRPr lang="en-US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0356" y="3250000"/>
            <a:ext cx="4551284" cy="2700000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2000" b="0" dirty="0">
                <a:latin typeface="Times New Roman"/>
                <a:cs typeface="Times New Roman"/>
              </a:rPr>
              <a:t>Submitted by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0" dirty="0">
                <a:solidFill>
                  <a:schemeClr val="accent1"/>
                </a:solidFill>
                <a:latin typeface="Times New Roman"/>
                <a:cs typeface="Times New Roman"/>
              </a:rPr>
              <a:t>Venkata Sai Krishna (2520030027)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0" dirty="0">
                <a:solidFill>
                  <a:schemeClr val="accent1"/>
                </a:solidFill>
                <a:latin typeface="Times New Roman"/>
                <a:cs typeface="Times New Roman"/>
              </a:rPr>
              <a:t>Pujith Pavan Kumar (2520030029)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IN" sz="2200" b="0" dirty="0">
                <a:solidFill>
                  <a:schemeClr val="accent1"/>
                </a:solidFill>
                <a:latin typeface="Times New Roman"/>
                <a:cs typeface="Times New Roman"/>
              </a:rPr>
              <a:t>Ajai Manikanta (2520030320)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2200" b="0" dirty="0">
                <a:latin typeface="Times New Roman"/>
                <a:cs typeface="Times New Roman"/>
              </a:rPr>
              <a:t>Under the Esteemed Guidance of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dirty="0">
                <a:latin typeface="Times New Roman"/>
                <a:cs typeface="Times New Roman"/>
              </a:rPr>
              <a:t>Dr S Madhavi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dirty="0">
                <a:latin typeface="Times New Roman"/>
                <a:cs typeface="Times New Roman"/>
              </a:rPr>
              <a:t>Professor,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1250000"/>
            <a:ext cx="4719782" cy="50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/>
              </a:rPr>
              <a:t>Introduction</a:t>
            </a: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/>
              </a:rPr>
              <a:t>Problem Statement</a:t>
            </a: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/>
              </a:rPr>
              <a:t>Project Workflow</a:t>
            </a: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/>
              </a:rPr>
              <a:t>Algorithms Used</a:t>
            </a: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/>
              </a:rPr>
              <a:t>Spam Analysis</a:t>
            </a: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/>
              </a:rPr>
              <a:t>Tools &amp; Technologies</a:t>
            </a: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/>
              </a:rPr>
              <a:t>Results</a:t>
            </a: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/>
              </a:rPr>
              <a:t>Expected Outcomes</a:t>
            </a: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/>
              </a:rPr>
              <a:t>Conclusion</a:t>
            </a: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/>
              </a:rPr>
              <a:t>Future Scope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187904"/>
            <a:ext cx="6871855" cy="584775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187904"/>
            <a:ext cx="6871855" cy="584775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101" name="Intro Points"/>
          <p:cNvSpPr txBox="1"/>
          <p:nvPr/>
        </p:nvSpPr>
        <p:spPr>
          <a:xfrm>
            <a:off x="1196000" y="1250000"/>
            <a:ext cx="9800000" cy="30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en-IN" sz="2200" b="0" i="0" dirty="0">
                <a:solidFill>
                  <a:srgbClr val="000000"/>
                </a:solidFill>
                <a:latin typeface="Times New Roman"/>
                <a:cs typeface="Times New Roman"/>
              </a:rPr>
              <a:t>Spam emails may contain fake offers, suspicious links or misleading messages.</a:t>
            </a:r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en-IN" sz="2200" b="0" i="0" dirty="0">
                <a:solidFill>
                  <a:srgbClr val="000000"/>
                </a:solidFill>
                <a:latin typeface="Times New Roman"/>
                <a:cs typeface="Times New Roman"/>
              </a:rPr>
              <a:t>Checking a large number of emails manually takes time.</a:t>
            </a:r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en-IN" sz="2200" b="0" i="0" dirty="0">
                <a:solidFill>
                  <a:srgbClr val="000000"/>
                </a:solidFill>
                <a:latin typeface="Times New Roman"/>
                <a:cs typeface="Times New Roman"/>
              </a:rPr>
              <a:t>Our project analyzes the actual content of an email.</a:t>
            </a:r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en-IN" sz="2200" b="0" i="0" dirty="0">
                <a:solidFill>
                  <a:srgbClr val="000000"/>
                </a:solidFill>
                <a:latin typeface="Times New Roman"/>
                <a:cs typeface="Times New Roman"/>
              </a:rPr>
              <a:t>It searches for suspicious words and patterns using DSA algorithms.</a:t>
            </a:r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en-IN" sz="2200" b="0" i="0" dirty="0">
                <a:solidFill>
                  <a:srgbClr val="000000"/>
                </a:solidFill>
                <a:latin typeface="Times New Roman"/>
                <a:cs typeface="Times New Roman"/>
              </a:rPr>
              <a:t>Finally, the email is classified as SPAM or NOT SPAM.</a:t>
            </a:r>
          </a:p>
        </p:txBody>
      </p:sp>
      <p:sp>
        <p:nvSpPr>
          <p:cNvPr id="102" name="Highlight Line"/>
          <p:cNvSpPr/>
          <p:nvPr/>
        </p:nvSpPr>
        <p:spPr>
          <a:xfrm>
            <a:off x="1196000" y="4500000"/>
            <a:ext cx="9800000" cy="75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DSA concepts are used to solve a practical email analysis problem.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4"/>
            <a:ext cx="6871855" cy="584775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103" name="Problem Text"/>
          <p:cNvSpPr txBox="1"/>
          <p:nvPr/>
        </p:nvSpPr>
        <p:spPr>
          <a:xfrm>
            <a:off x="1196000" y="1250000"/>
            <a:ext cx="9800000" cy="4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en-IN" sz="2200" b="0" i="0" dirty="0">
                <a:solidFill>
                  <a:srgbClr val="000000"/>
                </a:solidFill>
                <a:latin typeface="Times New Roman"/>
                <a:cs typeface="Times New Roman"/>
              </a:rPr>
              <a:t>Spam emails are common and may contain fake prizes, account warnings, financial scams or suspicious links.</a:t>
            </a:r>
          </a:p>
          <a:p>
            <a:pPr marL="0" indent="0" algn="l">
              <a:spcAft>
                <a:spcPts val="1400"/>
              </a:spcAft>
              <a:buNone/>
            </a:pPr>
            <a:r>
              <a:rPr lang="en-IN" sz="2200" b="0" i="0" dirty="0">
                <a:solidFill>
                  <a:srgbClr val="000000"/>
                </a:solidFill>
                <a:latin typeface="Times New Roman"/>
                <a:cs typeface="Times New Roman"/>
              </a:rPr>
              <a:t>Manually checking every message is difficult when the number of emails increases.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en-IN" sz="2200" b="1" i="0" dirty="0">
                <a:solidFill>
                  <a:srgbClr val="000000"/>
                </a:solidFill>
                <a:latin typeface="Times New Roman"/>
                <a:cs typeface="Times New Roman"/>
              </a:rPr>
              <a:t>Therefore, we need a simple system that can:</a:t>
            </a:r>
          </a:p>
          <a:p>
            <a:pPr marL="342900" indent="-342900" algn="l">
              <a:spcAft>
                <a:spcPts val="400"/>
              </a:spcAft>
              <a:buFont typeface="Arial"/>
              <a:buChar char="•"/>
            </a:pPr>
            <a:r>
              <a:rPr lang="en-IN" sz="2200" b="0" i="0" dirty="0">
                <a:solidFill>
                  <a:srgbClr val="000000"/>
                </a:solidFill>
                <a:latin typeface="Times New Roman"/>
                <a:cs typeface="Times New Roman"/>
              </a:rPr>
              <a:t>Read email content</a:t>
            </a:r>
          </a:p>
          <a:p>
            <a:pPr marL="342900" indent="-342900" algn="l">
              <a:spcAft>
                <a:spcPts val="400"/>
              </a:spcAft>
              <a:buFont typeface="Arial"/>
              <a:buChar char="•"/>
            </a:pPr>
            <a:r>
              <a:rPr lang="en-IN" sz="2200" b="0" i="0" dirty="0">
                <a:solidFill>
                  <a:srgbClr val="000000"/>
                </a:solidFill>
                <a:latin typeface="Times New Roman"/>
                <a:cs typeface="Times New Roman"/>
              </a:rPr>
              <a:t>Detect suspicious patterns</a:t>
            </a:r>
          </a:p>
          <a:p>
            <a:pPr marL="342900" indent="-342900" algn="l">
              <a:spcAft>
                <a:spcPts val="400"/>
              </a:spcAft>
              <a:buFont typeface="Arial"/>
              <a:buChar char="•"/>
            </a:pPr>
            <a:r>
              <a:rPr lang="en-IN" sz="2200" b="0" i="0" dirty="0">
                <a:solidFill>
                  <a:srgbClr val="000000"/>
                </a:solidFill>
                <a:latin typeface="Times New Roman"/>
                <a:cs typeface="Times New Roman"/>
              </a:rPr>
              <a:t>Analyze spam-related features</a:t>
            </a:r>
          </a:p>
          <a:p>
            <a:pPr marL="342900" indent="-342900" algn="l">
              <a:spcAft>
                <a:spcPts val="400"/>
              </a:spcAft>
              <a:buFont typeface="Arial"/>
              <a:buChar char="•"/>
            </a:pPr>
            <a:r>
              <a:rPr lang="en-IN" sz="2200" b="0" i="0" dirty="0">
                <a:solidFill>
                  <a:srgbClr val="000000"/>
                </a:solidFill>
                <a:latin typeface="Times New Roman"/>
                <a:cs typeface="Times New Roman"/>
              </a:rPr>
              <a:t>Identify suspicious URLs</a:t>
            </a:r>
          </a:p>
          <a:p>
            <a:pPr marL="342900" indent="-342900" algn="l">
              <a:spcAft>
                <a:spcPts val="400"/>
              </a:spcAft>
              <a:buFont typeface="Arial"/>
              <a:buChar char="•"/>
            </a:pPr>
            <a:r>
              <a:rPr lang="en-IN" sz="2200" b="0" i="0" dirty="0">
                <a:solidFill>
                  <a:srgbClr val="000000"/>
                </a:solidFill>
                <a:latin typeface="Times New Roman"/>
                <a:cs typeface="Times New Roman"/>
              </a:rPr>
              <a:t>Calculate a spam score</a:t>
            </a:r>
          </a:p>
          <a:p>
            <a:pPr marL="342900" indent="-342900" algn="l">
              <a:spcAft>
                <a:spcPts val="400"/>
              </a:spcAft>
              <a:buFont typeface="Arial"/>
              <a:buChar char="•"/>
            </a:pPr>
            <a:r>
              <a:rPr lang="en-IN" sz="2200" b="0" i="0" dirty="0">
                <a:solidFill>
                  <a:srgbClr val="000000"/>
                </a:solidFill>
                <a:latin typeface="Times New Roman"/>
                <a:cs typeface="Times New Roman"/>
              </a:rPr>
              <a:t>Classify the email as SPAM or NOT SPAM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4"/>
            <a:ext cx="6871855" cy="584775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Project Workflow</a:t>
            </a:r>
          </a:p>
        </p:txBody>
      </p:sp>
      <p:sp>
        <p:nvSpPr>
          <p:cNvPr id="104" name="Step 1"/>
          <p:cNvSpPr/>
          <p:nvPr/>
        </p:nvSpPr>
        <p:spPr>
          <a:xfrm>
            <a:off x="3736109" y="1200000"/>
            <a:ext cx="4719782" cy="43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Load Email</a:t>
            </a:r>
          </a:p>
        </p:txBody>
      </p:sp>
      <p:sp>
        <p:nvSpPr>
          <p:cNvPr id="105" name="Arrow 1"/>
          <p:cNvSpPr/>
          <p:nvPr/>
        </p:nvSpPr>
        <p:spPr>
          <a:xfrm>
            <a:off x="5976000" y="1650000"/>
            <a:ext cx="240000" cy="130000"/>
          </a:xfrm>
          <a:prstGeom prst="downArrow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6" name="Step 2"/>
          <p:cNvSpPr/>
          <p:nvPr/>
        </p:nvSpPr>
        <p:spPr>
          <a:xfrm>
            <a:off x="3736109" y="1800000"/>
            <a:ext cx="4719782" cy="43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Preprocess Text</a:t>
            </a:r>
          </a:p>
        </p:txBody>
      </p:sp>
      <p:sp>
        <p:nvSpPr>
          <p:cNvPr id="107" name="Arrow 2"/>
          <p:cNvSpPr/>
          <p:nvPr/>
        </p:nvSpPr>
        <p:spPr>
          <a:xfrm>
            <a:off x="5976000" y="2250000"/>
            <a:ext cx="240000" cy="130000"/>
          </a:xfrm>
          <a:prstGeom prst="downArrow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8" name="Step 3"/>
          <p:cNvSpPr/>
          <p:nvPr/>
        </p:nvSpPr>
        <p:spPr>
          <a:xfrm>
            <a:off x="3736109" y="2400000"/>
            <a:ext cx="4719782" cy="43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Search Spam Patterns</a:t>
            </a:r>
          </a:p>
        </p:txBody>
      </p:sp>
      <p:sp>
        <p:nvSpPr>
          <p:cNvPr id="109" name="Arrow 3"/>
          <p:cNvSpPr/>
          <p:nvPr/>
        </p:nvSpPr>
        <p:spPr>
          <a:xfrm>
            <a:off x="5976000" y="2850000"/>
            <a:ext cx="240000" cy="130000"/>
          </a:xfrm>
          <a:prstGeom prst="downArrow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0" name="Step 4"/>
          <p:cNvSpPr/>
          <p:nvPr/>
        </p:nvSpPr>
        <p:spPr>
          <a:xfrm>
            <a:off x="3736109" y="3000000"/>
            <a:ext cx="4719782" cy="43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Analyze Detected Features</a:t>
            </a:r>
          </a:p>
        </p:txBody>
      </p:sp>
      <p:sp>
        <p:nvSpPr>
          <p:cNvPr id="111" name="Arrow 4"/>
          <p:cNvSpPr/>
          <p:nvPr/>
        </p:nvSpPr>
        <p:spPr>
          <a:xfrm>
            <a:off x="5976000" y="3450000"/>
            <a:ext cx="240000" cy="130000"/>
          </a:xfrm>
          <a:prstGeom prst="downArrow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2" name="Step 5"/>
          <p:cNvSpPr/>
          <p:nvPr/>
        </p:nvSpPr>
        <p:spPr>
          <a:xfrm>
            <a:off x="3736109" y="3600000"/>
            <a:ext cx="4719782" cy="43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Calculate Spam Score</a:t>
            </a:r>
          </a:p>
        </p:txBody>
      </p:sp>
      <p:sp>
        <p:nvSpPr>
          <p:cNvPr id="113" name="Arrow 5"/>
          <p:cNvSpPr/>
          <p:nvPr/>
        </p:nvSpPr>
        <p:spPr>
          <a:xfrm>
            <a:off x="5976000" y="4050000"/>
            <a:ext cx="240000" cy="130000"/>
          </a:xfrm>
          <a:prstGeom prst="downArrow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4" name="Step 6"/>
          <p:cNvSpPr/>
          <p:nvPr/>
        </p:nvSpPr>
        <p:spPr>
          <a:xfrm>
            <a:off x="3736109" y="4200000"/>
            <a:ext cx="4719782" cy="43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Check URLs &amp; Risk</a:t>
            </a:r>
          </a:p>
        </p:txBody>
      </p:sp>
      <p:sp>
        <p:nvSpPr>
          <p:cNvPr id="115" name="Arrow 6"/>
          <p:cNvSpPr/>
          <p:nvPr/>
        </p:nvSpPr>
        <p:spPr>
          <a:xfrm>
            <a:off x="5976000" y="4650000"/>
            <a:ext cx="240000" cy="130000"/>
          </a:xfrm>
          <a:prstGeom prst="downArrow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6" name="Step 7"/>
          <p:cNvSpPr/>
          <p:nvPr/>
        </p:nvSpPr>
        <p:spPr>
          <a:xfrm>
            <a:off x="3736109" y="4800000"/>
            <a:ext cx="4719782" cy="43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SPAM / NOT SPAM</a:t>
            </a:r>
          </a:p>
        </p:txBody>
      </p:sp>
      <p:sp>
        <p:nvSpPr>
          <p:cNvPr id="117" name="Arrow 7"/>
          <p:cNvSpPr/>
          <p:nvPr/>
        </p:nvSpPr>
        <p:spPr>
          <a:xfrm>
            <a:off x="5976000" y="5250000"/>
            <a:ext cx="240000" cy="130000"/>
          </a:xfrm>
          <a:prstGeom prst="downArrow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8" name="Step 8"/>
          <p:cNvSpPr/>
          <p:nvPr/>
        </p:nvSpPr>
        <p:spPr>
          <a:xfrm>
            <a:off x="3736109" y="5400000"/>
            <a:ext cx="4719782" cy="43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Generate 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734187" y="221673"/>
            <a:ext cx="6723625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187904"/>
            <a:ext cx="6871855" cy="584775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String Matching Algorithms</a:t>
            </a:r>
          </a:p>
        </p:txBody>
      </p:sp>
      <p:sp>
        <p:nvSpPr>
          <p:cNvPr id="119" name="Card 1"/>
          <p:cNvSpPr/>
          <p:nvPr/>
        </p:nvSpPr>
        <p:spPr>
          <a:xfrm>
            <a:off x="1196000" y="1250000"/>
            <a:ext cx="4800000" cy="1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txBody>
          <a:bodyPr wrap="square" lIns="182880" tIns="109728" rIns="137160" bIns="91440" rtlCol="0" anchor="t">
            <a:no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en-IN" sz="2400" b="1" i="0" dirty="0">
                <a:solidFill>
                  <a:srgbClr val="C00000"/>
                </a:solidFill>
                <a:latin typeface="Times New Roman"/>
                <a:cs typeface="Times New Roman"/>
              </a:rPr>
              <a:t>1. KMP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IN" sz="2000" b="0" i="0" dirty="0">
                <a:solidFill>
                  <a:srgbClr val="000000"/>
                </a:solidFill>
                <a:latin typeface="Times New Roman"/>
                <a:cs typeface="Times New Roman"/>
              </a:rPr>
              <a:t>Uses the LPS table to search for a pattern efficiently.</a:t>
            </a:r>
          </a:p>
        </p:txBody>
      </p:sp>
      <p:sp>
        <p:nvSpPr>
          <p:cNvPr id="120" name="Card 2"/>
          <p:cNvSpPr/>
          <p:nvPr/>
        </p:nvSpPr>
        <p:spPr>
          <a:xfrm>
            <a:off x="6196000" y="1250000"/>
            <a:ext cx="4800000" cy="1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txBody>
          <a:bodyPr wrap="square" lIns="182880" tIns="109728" rIns="137160" bIns="91440" rtlCol="0" anchor="t">
            <a:no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en-IN" sz="2400" b="1" i="0" dirty="0">
                <a:solidFill>
                  <a:srgbClr val="C00000"/>
                </a:solidFill>
                <a:latin typeface="Times New Roman"/>
                <a:cs typeface="Times New Roman"/>
              </a:rPr>
              <a:t>2. Rabin-Karp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IN" sz="2000" b="0" i="0" dirty="0">
                <a:solidFill>
                  <a:srgbClr val="000000"/>
                </a:solidFill>
                <a:latin typeface="Times New Roman"/>
                <a:cs typeface="Times New Roman"/>
              </a:rPr>
              <a:t>Uses hashing to search for matching text.</a:t>
            </a:r>
          </a:p>
        </p:txBody>
      </p:sp>
      <p:sp>
        <p:nvSpPr>
          <p:cNvPr id="121" name="Card 3"/>
          <p:cNvSpPr/>
          <p:nvPr/>
        </p:nvSpPr>
        <p:spPr>
          <a:xfrm>
            <a:off x="1196000" y="3150000"/>
            <a:ext cx="4800000" cy="1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txBody>
          <a:bodyPr wrap="square" lIns="182880" tIns="109728" rIns="137160" bIns="91440" rtlCol="0" anchor="t">
            <a:no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en-IN" sz="2400" b="1" i="0" dirty="0">
                <a:solidFill>
                  <a:srgbClr val="C00000"/>
                </a:solidFill>
                <a:latin typeface="Times New Roman"/>
                <a:cs typeface="Times New Roman"/>
              </a:rPr>
              <a:t>3. Z-Algorithm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IN" sz="2000" b="0" i="0" dirty="0">
                <a:solidFill>
                  <a:srgbClr val="000000"/>
                </a:solidFill>
                <a:latin typeface="Times New Roman"/>
                <a:cs typeface="Times New Roman"/>
              </a:rPr>
              <a:t>Uses a Z-array to identify pattern matches.</a:t>
            </a:r>
          </a:p>
        </p:txBody>
      </p:sp>
      <p:sp>
        <p:nvSpPr>
          <p:cNvPr id="122" name="Card 4"/>
          <p:cNvSpPr/>
          <p:nvPr/>
        </p:nvSpPr>
        <p:spPr>
          <a:xfrm>
            <a:off x="6196000" y="3150000"/>
            <a:ext cx="4800000" cy="17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txBody>
          <a:bodyPr wrap="square" lIns="182880" tIns="109728" rIns="137160" bIns="91440" rtlCol="0" anchor="t">
            <a:no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en-IN" sz="2400" b="1" i="0" dirty="0">
                <a:solidFill>
                  <a:srgbClr val="C00000"/>
                </a:solidFill>
                <a:latin typeface="Times New Roman"/>
                <a:cs typeface="Times New Roman"/>
              </a:rPr>
              <a:t>4. Aho-Corasick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IN" sz="2000" b="0" i="0" dirty="0">
                <a:solidFill>
                  <a:srgbClr val="000000"/>
                </a:solidFill>
                <a:latin typeface="Times New Roman"/>
                <a:cs typeface="Times New Roman"/>
              </a:rPr>
              <a:t>Searches for multiple spam patterns together.</a:t>
            </a:r>
          </a:p>
        </p:txBody>
      </p:sp>
      <p:sp>
        <p:nvSpPr>
          <p:cNvPr id="123" name="Note"/>
          <p:cNvSpPr txBox="1"/>
          <p:nvPr/>
        </p:nvSpPr>
        <p:spPr>
          <a:xfrm>
            <a:off x="1196000" y="5050000"/>
            <a:ext cx="9800000" cy="600000"/>
          </a:xfrm>
          <a:prstGeom prst="rect">
            <a:avLst/>
          </a:prstGeom>
          <a:noFill/>
        </p:spPr>
        <p:txBody>
          <a:bodyPr wrap="square" lIns="0" tIns="45720" rIns="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IN" sz="2000" b="0" i="1" dirty="0">
                <a:solidFill>
                  <a:srgbClr val="000000"/>
                </a:solidFill>
                <a:latin typeface="Times New Roman"/>
                <a:cs typeface="Times New Roman"/>
              </a:rPr>
              <a:t>These algorithms help us find suspicious words and phrases in email content.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4"/>
            <a:ext cx="6871855" cy="584775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Other DSA Algorithms</a:t>
            </a:r>
          </a:p>
        </p:txBody>
      </p:sp>
      <p:sp>
        <p:nvSpPr>
          <p:cNvPr id="124" name="Label 1"/>
          <p:cNvSpPr/>
          <p:nvPr/>
        </p:nvSpPr>
        <p:spPr>
          <a:xfrm>
            <a:off x="1196000" y="1250000"/>
            <a:ext cx="3900000" cy="60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Bitmask Dynamic Programming</a:t>
            </a:r>
          </a:p>
        </p:txBody>
      </p:sp>
      <p:sp>
        <p:nvSpPr>
          <p:cNvPr id="125" name="Description 1"/>
          <p:cNvSpPr txBox="1"/>
          <p:nvPr/>
        </p:nvSpPr>
        <p:spPr>
          <a:xfrm>
            <a:off x="5396000" y="1250000"/>
            <a:ext cx="5600000" cy="600000"/>
          </a:xfrm>
          <a:prstGeom prst="rect">
            <a:avLst/>
          </a:prstGeom>
          <a:noFill/>
        </p:spPr>
        <p:txBody>
          <a:bodyPr wrap="square" lIns="0" tIns="45720" rIns="0" bIns="4572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IN" sz="2000" b="0" i="0" dirty="0">
                <a:solidFill>
                  <a:srgbClr val="000000"/>
                </a:solidFill>
                <a:latin typeface="Times New Roman"/>
                <a:cs typeface="Times New Roman"/>
              </a:rPr>
              <a:t>Checks combinations of detected spam features.</a:t>
            </a:r>
          </a:p>
        </p:txBody>
      </p:sp>
      <p:sp>
        <p:nvSpPr>
          <p:cNvPr id="126" name="Label 2"/>
          <p:cNvSpPr/>
          <p:nvPr/>
        </p:nvSpPr>
        <p:spPr>
          <a:xfrm>
            <a:off x="1196000" y="2080000"/>
            <a:ext cx="3900000" cy="60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Edmonds-Karp</a:t>
            </a:r>
          </a:p>
        </p:txBody>
      </p:sp>
      <p:sp>
        <p:nvSpPr>
          <p:cNvPr id="127" name="Description 2"/>
          <p:cNvSpPr txBox="1"/>
          <p:nvPr/>
        </p:nvSpPr>
        <p:spPr>
          <a:xfrm>
            <a:off x="5396000" y="2080000"/>
            <a:ext cx="5600000" cy="600000"/>
          </a:xfrm>
          <a:prstGeom prst="rect">
            <a:avLst/>
          </a:prstGeom>
          <a:noFill/>
        </p:spPr>
        <p:txBody>
          <a:bodyPr wrap="square" lIns="0" tIns="45720" rIns="0" bIns="4572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IN" sz="2000" b="0" i="0" dirty="0">
                <a:solidFill>
                  <a:srgbClr val="000000"/>
                </a:solidFill>
                <a:latin typeface="Times New Roman"/>
                <a:cs typeface="Times New Roman"/>
              </a:rPr>
              <a:t>Uses the maximum-flow concept for feature analysis.</a:t>
            </a:r>
          </a:p>
        </p:txBody>
      </p:sp>
      <p:sp>
        <p:nvSpPr>
          <p:cNvPr id="128" name="Label 3"/>
          <p:cNvSpPr/>
          <p:nvPr/>
        </p:nvSpPr>
        <p:spPr>
          <a:xfrm>
            <a:off x="1196000" y="2910000"/>
            <a:ext cx="3900000" cy="60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Greedy Set Cover</a:t>
            </a:r>
          </a:p>
        </p:txBody>
      </p:sp>
      <p:sp>
        <p:nvSpPr>
          <p:cNvPr id="129" name="Description 3"/>
          <p:cNvSpPr txBox="1"/>
          <p:nvPr/>
        </p:nvSpPr>
        <p:spPr>
          <a:xfrm>
            <a:off x="5396000" y="2910000"/>
            <a:ext cx="5600000" cy="600000"/>
          </a:xfrm>
          <a:prstGeom prst="rect">
            <a:avLst/>
          </a:prstGeom>
          <a:noFill/>
        </p:spPr>
        <p:txBody>
          <a:bodyPr wrap="square" lIns="0" tIns="45720" rIns="0" bIns="4572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IN" sz="2000" b="0" i="0" dirty="0">
                <a:solidFill>
                  <a:srgbClr val="000000"/>
                </a:solidFill>
                <a:latin typeface="Times New Roman"/>
                <a:cs typeface="Times New Roman"/>
              </a:rPr>
              <a:t>Selects useful rules that cover detected spam features.</a:t>
            </a:r>
          </a:p>
        </p:txBody>
      </p:sp>
      <p:sp>
        <p:nvSpPr>
          <p:cNvPr id="130" name="Label 4"/>
          <p:cNvSpPr/>
          <p:nvPr/>
        </p:nvSpPr>
        <p:spPr>
          <a:xfrm>
            <a:off x="1196000" y="3740000"/>
            <a:ext cx="3900000" cy="60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Randomized Hashing</a:t>
            </a:r>
          </a:p>
        </p:txBody>
      </p:sp>
      <p:sp>
        <p:nvSpPr>
          <p:cNvPr id="131" name="Description 4"/>
          <p:cNvSpPr txBox="1"/>
          <p:nvPr/>
        </p:nvSpPr>
        <p:spPr>
          <a:xfrm>
            <a:off x="5396000" y="3740000"/>
            <a:ext cx="5600000" cy="600000"/>
          </a:xfrm>
          <a:prstGeom prst="rect">
            <a:avLst/>
          </a:prstGeom>
          <a:noFill/>
        </p:spPr>
        <p:txBody>
          <a:bodyPr wrap="square" lIns="0" tIns="45720" rIns="0" bIns="4572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IN" sz="2000" b="0" i="0" dirty="0">
                <a:solidFill>
                  <a:srgbClr val="000000"/>
                </a:solidFill>
                <a:latin typeface="Times New Roman"/>
                <a:cs typeface="Times New Roman"/>
              </a:rPr>
              <a:t>Generates a hash value for email content.</a:t>
            </a:r>
          </a:p>
        </p:txBody>
      </p:sp>
      <p:sp>
        <p:nvSpPr>
          <p:cNvPr id="132" name="Label 5"/>
          <p:cNvSpPr/>
          <p:nvPr/>
        </p:nvSpPr>
        <p:spPr>
          <a:xfrm>
            <a:off x="1196000" y="4570000"/>
            <a:ext cx="3900000" cy="60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Parallel Processing</a:t>
            </a:r>
          </a:p>
        </p:txBody>
      </p:sp>
      <p:sp>
        <p:nvSpPr>
          <p:cNvPr id="133" name="Description 5"/>
          <p:cNvSpPr txBox="1"/>
          <p:nvPr/>
        </p:nvSpPr>
        <p:spPr>
          <a:xfrm>
            <a:off x="5396000" y="4570000"/>
            <a:ext cx="5600000" cy="600000"/>
          </a:xfrm>
          <a:prstGeom prst="rect">
            <a:avLst/>
          </a:prstGeom>
          <a:noFill/>
        </p:spPr>
        <p:txBody>
          <a:bodyPr wrap="square" lIns="0" tIns="45720" rIns="0" bIns="4572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IN" sz="2000" b="0" i="0" dirty="0">
                <a:solidFill>
                  <a:srgbClr val="000000"/>
                </a:solidFill>
                <a:latin typeface="Times New Roman"/>
                <a:cs typeface="Times New Roman"/>
              </a:rPr>
              <a:t>Processes multiple emails using multiple threads.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4"/>
            <a:ext cx="6871855" cy="584775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Spam Analysis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34" name="Analysis Step 1"/>
          <p:cNvSpPr/>
          <p:nvPr/>
        </p:nvSpPr>
        <p:spPr>
          <a:xfrm>
            <a:off x="1196000" y="1250000"/>
            <a:ext cx="3900000" cy="48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Suspicious words found</a:t>
            </a:r>
          </a:p>
        </p:txBody>
      </p:sp>
      <p:sp>
        <p:nvSpPr>
          <p:cNvPr id="135" name="Analysis Arrow 1"/>
          <p:cNvSpPr/>
          <p:nvPr/>
        </p:nvSpPr>
        <p:spPr>
          <a:xfrm>
            <a:off x="3036000" y="1760000"/>
            <a:ext cx="220000" cy="130000"/>
          </a:xfrm>
          <a:prstGeom prst="downArrow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6" name="Analysis Step 2"/>
          <p:cNvSpPr/>
          <p:nvPr/>
        </p:nvSpPr>
        <p:spPr>
          <a:xfrm>
            <a:off x="1196000" y="1920000"/>
            <a:ext cx="3900000" cy="48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Matched patterns</a:t>
            </a:r>
          </a:p>
        </p:txBody>
      </p:sp>
      <p:sp>
        <p:nvSpPr>
          <p:cNvPr id="137" name="Analysis Arrow 2"/>
          <p:cNvSpPr/>
          <p:nvPr/>
        </p:nvSpPr>
        <p:spPr>
          <a:xfrm>
            <a:off x="3036000" y="2430000"/>
            <a:ext cx="220000" cy="130000"/>
          </a:xfrm>
          <a:prstGeom prst="downArrow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8" name="Analysis Step 3"/>
          <p:cNvSpPr/>
          <p:nvPr/>
        </p:nvSpPr>
        <p:spPr>
          <a:xfrm>
            <a:off x="1196000" y="2590000"/>
            <a:ext cx="3900000" cy="48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Feature score</a:t>
            </a:r>
          </a:p>
        </p:txBody>
      </p:sp>
      <p:sp>
        <p:nvSpPr>
          <p:cNvPr id="139" name="Analysis Arrow 3"/>
          <p:cNvSpPr/>
          <p:nvPr/>
        </p:nvSpPr>
        <p:spPr>
          <a:xfrm>
            <a:off x="3036000" y="3100000"/>
            <a:ext cx="220000" cy="130000"/>
          </a:xfrm>
          <a:prstGeom prst="downArrow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0" name="Analysis Step 4"/>
          <p:cNvSpPr/>
          <p:nvPr/>
        </p:nvSpPr>
        <p:spPr>
          <a:xfrm>
            <a:off x="1196000" y="3260000"/>
            <a:ext cx="3900000" cy="48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URL analysis</a:t>
            </a:r>
          </a:p>
        </p:txBody>
      </p:sp>
      <p:sp>
        <p:nvSpPr>
          <p:cNvPr id="141" name="Analysis Arrow 4"/>
          <p:cNvSpPr/>
          <p:nvPr/>
        </p:nvSpPr>
        <p:spPr>
          <a:xfrm>
            <a:off x="3036000" y="3770000"/>
            <a:ext cx="220000" cy="130000"/>
          </a:xfrm>
          <a:prstGeom prst="downArrow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2" name="Analysis Step 5"/>
          <p:cNvSpPr/>
          <p:nvPr/>
        </p:nvSpPr>
        <p:spPr>
          <a:xfrm>
            <a:off x="1196000" y="3930000"/>
            <a:ext cx="3900000" cy="48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Risk &amp; confidence</a:t>
            </a:r>
          </a:p>
        </p:txBody>
      </p:sp>
      <p:sp>
        <p:nvSpPr>
          <p:cNvPr id="143" name="Analysis Arrow 5"/>
          <p:cNvSpPr/>
          <p:nvPr/>
        </p:nvSpPr>
        <p:spPr>
          <a:xfrm>
            <a:off x="3036000" y="4440000"/>
            <a:ext cx="220000" cy="130000"/>
          </a:xfrm>
          <a:prstGeom prst="downArrow">
            <a:avLst/>
          </a:pr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4" name="Analysis Step 6"/>
          <p:cNvSpPr/>
          <p:nvPr/>
        </p:nvSpPr>
        <p:spPr>
          <a:xfrm>
            <a:off x="1196000" y="4600000"/>
            <a:ext cx="3900000" cy="48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Final classification</a:t>
            </a:r>
          </a:p>
        </p:txBody>
      </p:sp>
      <p:sp>
        <p:nvSpPr>
          <p:cNvPr id="145" name="System Output"/>
          <p:cNvSpPr txBox="1"/>
          <p:nvPr/>
        </p:nvSpPr>
        <p:spPr>
          <a:xfrm>
            <a:off x="5596000" y="1250000"/>
            <a:ext cx="5400000" cy="31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en-IN" sz="2200" b="1" i="0" dirty="0">
                <a:solidFill>
                  <a:srgbClr val="C00000"/>
                </a:solidFill>
                <a:latin typeface="Times New Roman"/>
                <a:cs typeface="Times New Roman"/>
              </a:rPr>
              <a:t>Information shown by the system</a:t>
            </a:r>
          </a:p>
          <a:p>
            <a:pPr marL="342900" indent="-342900" algn="l">
              <a:spcAft>
                <a:spcPts val="3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Times New Roman"/>
                <a:cs typeface="Times New Roman"/>
              </a:rPr>
              <a:t>Matched Keywords</a:t>
            </a:r>
          </a:p>
          <a:p>
            <a:pPr marL="342900" indent="-342900" algn="l">
              <a:spcAft>
                <a:spcPts val="3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Times New Roman"/>
                <a:cs typeface="Times New Roman"/>
              </a:rPr>
              <a:t>Spam Category</a:t>
            </a:r>
          </a:p>
          <a:p>
            <a:pPr marL="342900" indent="-342900" algn="l">
              <a:spcAft>
                <a:spcPts val="3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Times New Roman"/>
                <a:cs typeface="Times New Roman"/>
              </a:rPr>
              <a:t>Confidence Score</a:t>
            </a:r>
          </a:p>
          <a:p>
            <a:pPr marL="342900" indent="-342900" algn="l">
              <a:spcAft>
                <a:spcPts val="3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Times New Roman"/>
                <a:cs typeface="Times New Roman"/>
              </a:rPr>
              <a:t>Risk Level</a:t>
            </a:r>
          </a:p>
          <a:p>
            <a:pPr marL="342900" indent="-342900" algn="l">
              <a:spcAft>
                <a:spcPts val="3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Times New Roman"/>
                <a:cs typeface="Times New Roman"/>
              </a:rPr>
              <a:t>URLs Detected</a:t>
            </a:r>
          </a:p>
          <a:p>
            <a:pPr marL="342900" indent="-342900" algn="l">
              <a:spcAft>
                <a:spcPts val="3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Times New Roman"/>
                <a:cs typeface="Times New Roman"/>
              </a:rPr>
              <a:t>Suspicious URLs</a:t>
            </a:r>
          </a:p>
          <a:p>
            <a:pPr marL="342900" indent="-342900" algn="l">
              <a:spcAft>
                <a:spcPts val="3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Times New Roman"/>
                <a:cs typeface="Times New Roman"/>
              </a:rPr>
              <a:t>Final Result</a:t>
            </a:r>
          </a:p>
        </p:txBody>
      </p:sp>
      <p:sp>
        <p:nvSpPr>
          <p:cNvPr id="146" name="Final Result Box"/>
          <p:cNvSpPr/>
          <p:nvPr/>
        </p:nvSpPr>
        <p:spPr>
          <a:xfrm>
            <a:off x="5596000" y="4600000"/>
            <a:ext cx="5400000" cy="4800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Final Result:  SPAM  or  NOT SPAM</a:t>
            </a:r>
          </a:p>
        </p:txBody>
      </p:sp>
      <p:sp>
        <p:nvSpPr>
          <p:cNvPr id="147" name="Note"/>
          <p:cNvSpPr txBox="1"/>
          <p:nvPr/>
        </p:nvSpPr>
        <p:spPr>
          <a:xfrm>
            <a:off x="1196000" y="5380000"/>
            <a:ext cx="9800000" cy="450000"/>
          </a:xfrm>
          <a:prstGeom prst="rect">
            <a:avLst/>
          </a:prstGeom>
          <a:noFill/>
        </p:spPr>
        <p:txBody>
          <a:bodyPr wrap="square" lIns="0" tIns="45720" rIns="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IN" sz="1800" b="0" i="1" dirty="0">
                <a:solidFill>
                  <a:srgbClr val="000000"/>
                </a:solidFill>
                <a:latin typeface="Times New Roman"/>
                <a:cs typeface="Times New Roman"/>
              </a:rPr>
              <a:t>Based on DSA algorithms and rule / feature-based analysis.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734187" y="221673"/>
            <a:ext cx="6723625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4"/>
            <a:ext cx="6871855" cy="584775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Tools and Technologies Used</a:t>
            </a:r>
            <a:endParaRPr 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148" name="Tools Table"/>
          <p:cNvGraphicFramePr>
            <a:graphicFrameLocks noGrp="1"/>
          </p:cNvGraphicFramePr>
          <p:nvPr/>
        </p:nvGraphicFramePr>
        <p:xfrm>
          <a:off x="1196000" y="1250000"/>
          <a:ext cx="9800000" cy="4560000"/>
        </p:xfrm>
        <a:graphic>
          <a:graphicData uri="http://schemas.openxmlformats.org/drawingml/2006/table">
            <a:tbl>
              <a:tblPr firstRow="1"/>
              <a:tblGrid>
                <a:gridCol w="3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IN" sz="1800" b="1" i="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Category</a:t>
                      </a:r>
                    </a:p>
                  </a:txBody>
                  <a:tcPr marL="109728" marT="54864" marB="54864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1" i="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Tools / Technologies Used</a:t>
                      </a:r>
                    </a:p>
                  </a:txBody>
                  <a:tcPr marL="109728" marT="54864" marB="54864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l"/>
                      <a:r>
                        <a:rPr lang="en-IN" sz="18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Programming Languages</a:t>
                      </a:r>
                    </a:p>
                  </a:txBody>
                  <a:tcPr marL="109728" marT="54864" marB="54864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Java, HTML, CSS, JavaScript</a:t>
                      </a:r>
                    </a:p>
                  </a:txBody>
                  <a:tcPr marL="109728" marT="54864" marB="54864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l"/>
                      <a:r>
                        <a:rPr lang="en-IN" sz="18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Software / IDEs</a:t>
                      </a:r>
                    </a:p>
                  </a:txBody>
                  <a:tcPr marL="109728" marT="54864" marB="54864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Visual Studio Code, JDK 17 or above</a:t>
                      </a:r>
                    </a:p>
                  </a:txBody>
                  <a:tcPr marL="109728" marT="54864" marB="54864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l"/>
                      <a:r>
                        <a:rPr lang="en-IN" sz="18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Frameworks / Libraries</a:t>
                      </a:r>
                    </a:p>
                  </a:txBody>
                  <a:tcPr marL="109728" marT="54864" marB="54864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Java standard libraries</a:t>
                      </a:r>
                    </a:p>
                  </a:txBody>
                  <a:tcPr marL="109728" marT="54864" marB="54864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l"/>
                      <a:r>
                        <a:rPr lang="en-IN" sz="18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Databases / Platforms</a:t>
                      </a:r>
                    </a:p>
                  </a:txBody>
                  <a:tcPr marL="109728" marT="54864" marB="54864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Text files for data storage, Windows 10/11</a:t>
                      </a:r>
                    </a:p>
                  </a:txBody>
                  <a:tcPr marL="109728" marT="54864" marB="54864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l"/>
                      <a:r>
                        <a:rPr lang="en-IN" sz="18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Hardware / IoT Components (if applicable)</a:t>
                      </a:r>
                    </a:p>
                  </a:txBody>
                  <a:tcPr marL="109728" marT="54864" marB="54864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Not applicable. Standard laptop/desktop (Intel Core i3 or equivalent, 4 GB RAM)</a:t>
                      </a:r>
                    </a:p>
                  </a:txBody>
                  <a:tcPr marL="109728" marT="54864" marB="54864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algn="l"/>
                      <a:r>
                        <a:rPr lang="en-IN" sz="18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Other Tools / Platforms</a:t>
                      </a:r>
                    </a:p>
                  </a:txBody>
                  <a:tcPr marL="109728" marT="54864" marB="54864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0" i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Chrome / Edge browser, VS Code Terminal / Command Prompt</a:t>
                      </a:r>
                    </a:p>
                  </a:txBody>
                  <a:tcPr marL="109728" marT="54864" marB="54864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4"/>
            <a:ext cx="6871855" cy="584775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150" name="Screenshot Caption"/>
          <p:cNvSpPr txBox="1"/>
          <p:nvPr/>
        </p:nvSpPr>
        <p:spPr>
          <a:xfrm>
            <a:off x="1196000" y="5500000"/>
            <a:ext cx="9800000" cy="650000"/>
          </a:xfrm>
          <a:prstGeom prst="rect">
            <a:avLst/>
          </a:prstGeom>
          <a:noFill/>
        </p:spPr>
        <p:txBody>
          <a:bodyPr wrap="square" lIns="0" tIns="45720" rIns="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IN" sz="1800" b="1" i="0" dirty="0">
                <a:solidFill>
                  <a:srgbClr val="000000"/>
                </a:solidFill>
                <a:latin typeface="Times New Roman"/>
                <a:cs typeface="Times New Roman"/>
              </a:rPr>
              <a:t>Console email menu: </a:t>
            </a:r>
            <a:r>
              <a:rPr lang="en-IN" sz="1800" b="0" i="0" dirty="0">
                <a:solidFill>
                  <a:srgbClr val="000000"/>
                </a:solidFill>
                <a:latin typeface="Times New Roman"/>
                <a:cs typeface="Times New Roman"/>
              </a:rPr>
              <a:t>Starting screen of the console application.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EEF251-FF66-F126-D8F9-0DE092D84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109" y="1398967"/>
            <a:ext cx="5193781" cy="37716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4"/>
            <a:ext cx="6871855" cy="584775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152" name="Screenshot Caption"/>
          <p:cNvSpPr txBox="1"/>
          <p:nvPr/>
        </p:nvSpPr>
        <p:spPr>
          <a:xfrm>
            <a:off x="1196000" y="5500000"/>
            <a:ext cx="9800000" cy="650000"/>
          </a:xfrm>
          <a:prstGeom prst="rect">
            <a:avLst/>
          </a:prstGeom>
          <a:noFill/>
        </p:spPr>
        <p:txBody>
          <a:bodyPr wrap="square" lIns="0" tIns="45720" rIns="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IN" sz="1800" b="1" i="0" dirty="0">
                <a:solidFill>
                  <a:srgbClr val="000000"/>
                </a:solidFill>
                <a:latin typeface="Times New Roman"/>
                <a:cs typeface="Times New Roman"/>
              </a:rPr>
              <a:t>Individual email analysis: </a:t>
            </a:r>
            <a:r>
              <a:rPr lang="en-IN" sz="1800" b="0" i="0" dirty="0">
                <a:solidFill>
                  <a:srgbClr val="000000"/>
                </a:solidFill>
                <a:latin typeface="Times New Roman"/>
                <a:cs typeface="Times New Roman"/>
              </a:rPr>
              <a:t>Analyzes an individual email.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5DAC32-91EC-B03F-4713-C5D884A77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740" y="1725078"/>
            <a:ext cx="4835416" cy="35730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76D858-3387-0B26-9C9F-074B4D26F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665" y="1725078"/>
            <a:ext cx="4686334" cy="35730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4"/>
            <a:ext cx="6871855" cy="584775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154" name="Screenshot Caption"/>
          <p:cNvSpPr txBox="1"/>
          <p:nvPr/>
        </p:nvSpPr>
        <p:spPr>
          <a:xfrm>
            <a:off x="1196000" y="5500000"/>
            <a:ext cx="9800000" cy="650000"/>
          </a:xfrm>
          <a:prstGeom prst="rect">
            <a:avLst/>
          </a:prstGeom>
          <a:noFill/>
        </p:spPr>
        <p:txBody>
          <a:bodyPr wrap="square" lIns="0" tIns="45720" rIns="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IN" sz="1800" b="1" i="0" dirty="0">
                <a:solidFill>
                  <a:srgbClr val="000000"/>
                </a:solidFill>
                <a:latin typeface="Times New Roman"/>
                <a:cs typeface="Times New Roman"/>
              </a:rPr>
              <a:t>Algorithm comparison: </a:t>
            </a:r>
            <a:r>
              <a:rPr lang="en-IN" sz="1800" b="0" i="0" dirty="0">
                <a:solidFill>
                  <a:srgbClr val="000000"/>
                </a:solidFill>
                <a:latin typeface="Times New Roman"/>
                <a:cs typeface="Times New Roman"/>
              </a:rPr>
              <a:t>Shows matches from the implemented algorithms.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8CD0D6-E7D0-04B4-477E-D1DEFFAB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111" y="1124625"/>
            <a:ext cx="7395775" cy="427311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4"/>
            <a:ext cx="6871855" cy="584775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156" name="Screenshot Caption"/>
          <p:cNvSpPr txBox="1"/>
          <p:nvPr/>
        </p:nvSpPr>
        <p:spPr>
          <a:xfrm>
            <a:off x="1196000" y="5500000"/>
            <a:ext cx="9800000" cy="650000"/>
          </a:xfrm>
          <a:prstGeom prst="rect">
            <a:avLst/>
          </a:prstGeom>
          <a:noFill/>
        </p:spPr>
        <p:txBody>
          <a:bodyPr wrap="square" lIns="0" tIns="45720" rIns="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IN" sz="1800" b="1" i="0" dirty="0">
                <a:solidFill>
                  <a:srgbClr val="000000"/>
                </a:solidFill>
                <a:latin typeface="Times New Roman"/>
                <a:cs typeface="Times New Roman"/>
              </a:rPr>
              <a:t>Web interface: </a:t>
            </a:r>
            <a:r>
              <a:rPr lang="en-IN" sz="1800" b="0" i="0" dirty="0">
                <a:solidFill>
                  <a:srgbClr val="000000"/>
                </a:solidFill>
                <a:latin typeface="Times New Roman"/>
                <a:cs typeface="Times New Roman"/>
              </a:rPr>
              <a:t>Displays spam category, confidence and risk, with the final SPAM / NOT SPAM result.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838A2A-EF3B-EBCA-2614-750A7B64A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355" y="919194"/>
            <a:ext cx="7427287" cy="46420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4"/>
            <a:ext cx="6871855" cy="584775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Expected Outcomes</a:t>
            </a:r>
          </a:p>
        </p:txBody>
      </p:sp>
      <p:sp>
        <p:nvSpPr>
          <p:cNvPr id="157" name="Outcome Points"/>
          <p:cNvSpPr txBox="1"/>
          <p:nvPr/>
        </p:nvSpPr>
        <p:spPr>
          <a:xfrm>
            <a:off x="1195999" y="2093608"/>
            <a:ext cx="9800000" cy="3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en-IN" sz="2200" b="0" i="0" dirty="0">
                <a:solidFill>
                  <a:srgbClr val="000000"/>
                </a:solidFill>
                <a:latin typeface="Times New Roman"/>
                <a:cs typeface="Times New Roman"/>
              </a:rPr>
              <a:t>Detect suspicious words and phrases in email content.</a:t>
            </a:r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en-IN" sz="2200" b="0" i="0" dirty="0">
                <a:solidFill>
                  <a:srgbClr val="000000"/>
                </a:solidFill>
                <a:latin typeface="Times New Roman"/>
                <a:cs typeface="Times New Roman"/>
              </a:rPr>
              <a:t>Show how different DSA algorithms work on the same email.</a:t>
            </a:r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en-IN" sz="2200" b="0" i="0" dirty="0">
                <a:solidFill>
                  <a:srgbClr val="000000"/>
                </a:solidFill>
                <a:latin typeface="Times New Roman"/>
                <a:cs typeface="Times New Roman"/>
              </a:rPr>
              <a:t>Give a spam score, category, confidence and risk level.</a:t>
            </a:r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en-IN" sz="2200" b="0" i="0" dirty="0">
                <a:solidFill>
                  <a:srgbClr val="000000"/>
                </a:solidFill>
                <a:latin typeface="Times New Roman"/>
                <a:cs typeface="Times New Roman"/>
              </a:rPr>
              <a:t>Identify suspicious URLs in the email.</a:t>
            </a:r>
          </a:p>
          <a:p>
            <a:pPr marL="342900" indent="-342900" algn="l">
              <a:spcAft>
                <a:spcPts val="1400"/>
              </a:spcAft>
              <a:buFont typeface="Arial"/>
              <a:buChar char="•"/>
            </a:pPr>
            <a:r>
              <a:rPr lang="en-IN" sz="2200" b="0" i="0" dirty="0">
                <a:solidFill>
                  <a:srgbClr val="000000"/>
                </a:solidFill>
                <a:latin typeface="Times New Roman"/>
                <a:cs typeface="Times New Roman"/>
              </a:rPr>
              <a:t>Give a clear SPAM / NOT SPAM result.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734187" y="221673"/>
            <a:ext cx="6723625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87904"/>
            <a:ext cx="6871855" cy="584775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 &amp; Future Scope</a:t>
            </a:r>
          </a:p>
        </p:txBody>
      </p:sp>
      <p:sp>
        <p:nvSpPr>
          <p:cNvPr id="158" name="Conclusion Card"/>
          <p:cNvSpPr/>
          <p:nvPr/>
        </p:nvSpPr>
        <p:spPr>
          <a:xfrm>
            <a:off x="1196000" y="1250000"/>
            <a:ext cx="4800000" cy="42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txBody>
          <a:bodyPr wrap="square" lIns="182880" tIns="109728" rIns="137160" bIns="91440" rtlCol="0" anchor="t">
            <a:noAutofit/>
          </a:bodyPr>
          <a:lstStyle/>
          <a:p>
            <a:pPr marL="0" indent="0" algn="l">
              <a:spcAft>
                <a:spcPts val="1000"/>
              </a:spcAft>
              <a:buNone/>
            </a:pPr>
            <a:r>
              <a:rPr lang="en-IN" sz="2400" b="1" i="0" dirty="0">
                <a:solidFill>
                  <a:srgbClr val="C00000"/>
                </a:solidFill>
                <a:latin typeface="Times New Roman"/>
                <a:cs typeface="Times New Roman"/>
              </a:rPr>
              <a:t>CONCLUSION</a:t>
            </a:r>
          </a:p>
          <a:p>
            <a:pPr marL="342900" indent="-342900" algn="l">
              <a:spcAft>
                <a:spcPts val="700"/>
              </a:spcAft>
              <a:buFont typeface="Arial"/>
              <a:buChar char="•"/>
            </a:pPr>
            <a:r>
              <a:rPr lang="en-IN" sz="1800" b="0" i="0" dirty="0">
                <a:solidFill>
                  <a:srgbClr val="000000"/>
                </a:solidFill>
                <a:latin typeface="Times New Roman"/>
                <a:cs typeface="Times New Roman"/>
              </a:rPr>
              <a:t>The system analyzes email content using DSA algorithms.</a:t>
            </a:r>
          </a:p>
          <a:p>
            <a:pPr marL="342900" indent="-342900" algn="l">
              <a:spcAft>
                <a:spcPts val="700"/>
              </a:spcAft>
              <a:buFont typeface="Arial"/>
              <a:buChar char="•"/>
            </a:pPr>
            <a:r>
              <a:rPr lang="en-IN" sz="1800" b="0" i="0" dirty="0">
                <a:solidFill>
                  <a:srgbClr val="000000"/>
                </a:solidFill>
                <a:latin typeface="Times New Roman"/>
                <a:cs typeface="Times New Roman"/>
              </a:rPr>
              <a:t>Suspicious words and patterns can be detected.</a:t>
            </a:r>
          </a:p>
          <a:p>
            <a:pPr marL="342900" indent="-342900" algn="l">
              <a:spcAft>
                <a:spcPts val="700"/>
              </a:spcAft>
              <a:buFont typeface="Arial"/>
              <a:buChar char="•"/>
            </a:pPr>
            <a:r>
              <a:rPr lang="en-IN" sz="1800" b="0" i="0" dirty="0">
                <a:solidFill>
                  <a:srgbClr val="000000"/>
                </a:solidFill>
                <a:latin typeface="Times New Roman"/>
                <a:cs typeface="Times New Roman"/>
              </a:rPr>
              <a:t>Multiple algorithms are demonstrated in one project.</a:t>
            </a:r>
          </a:p>
          <a:p>
            <a:pPr marL="342900" indent="-342900" algn="l">
              <a:spcAft>
                <a:spcPts val="700"/>
              </a:spcAft>
              <a:buFont typeface="Arial"/>
              <a:buChar char="•"/>
            </a:pPr>
            <a:r>
              <a:rPr lang="en-IN" sz="1800" b="0" i="0" dirty="0">
                <a:solidFill>
                  <a:srgbClr val="000000"/>
                </a:solidFill>
                <a:latin typeface="Times New Roman"/>
                <a:cs typeface="Times New Roman"/>
              </a:rPr>
              <a:t>Emails are classified as SPAM or NOT SPAM.</a:t>
            </a:r>
          </a:p>
          <a:p>
            <a:pPr marL="342900" indent="-342900" algn="l">
              <a:spcAft>
                <a:spcPts val="700"/>
              </a:spcAft>
              <a:buFont typeface="Arial"/>
              <a:buChar char="•"/>
            </a:pPr>
            <a:r>
              <a:rPr lang="en-IN" sz="1800" b="0" i="0" dirty="0">
                <a:solidFill>
                  <a:srgbClr val="000000"/>
                </a:solidFill>
                <a:latin typeface="Times New Roman"/>
                <a:cs typeface="Times New Roman"/>
              </a:rPr>
              <a:t>Results can be accessed through the console and web interface.</a:t>
            </a:r>
          </a:p>
        </p:txBody>
      </p:sp>
      <p:sp>
        <p:nvSpPr>
          <p:cNvPr id="159" name="Future Scope Card"/>
          <p:cNvSpPr/>
          <p:nvPr/>
        </p:nvSpPr>
        <p:spPr>
          <a:xfrm>
            <a:off x="6196000" y="1250000"/>
            <a:ext cx="4800000" cy="42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txBody>
          <a:bodyPr wrap="square" lIns="182880" tIns="109728" rIns="137160" bIns="91440" rtlCol="0" anchor="t">
            <a:noAutofit/>
          </a:bodyPr>
          <a:lstStyle/>
          <a:p>
            <a:pPr marL="0" indent="0" algn="l">
              <a:spcAft>
                <a:spcPts val="1000"/>
              </a:spcAft>
              <a:buNone/>
            </a:pPr>
            <a:r>
              <a:rPr lang="en-IN" sz="2400" b="1" i="0" dirty="0">
                <a:solidFill>
                  <a:srgbClr val="C00000"/>
                </a:solidFill>
                <a:latin typeface="Times New Roman"/>
                <a:cs typeface="Times New Roman"/>
              </a:rPr>
              <a:t>FUTURE SCOPE</a:t>
            </a:r>
          </a:p>
          <a:p>
            <a:pPr marL="342900" indent="-342900" algn="l">
              <a:spcAft>
                <a:spcPts val="700"/>
              </a:spcAft>
              <a:buFont typeface="Arial"/>
              <a:buChar char="•"/>
            </a:pPr>
            <a:r>
              <a:rPr lang="en-IN" sz="1800" b="0" i="0" dirty="0">
                <a:solidFill>
                  <a:srgbClr val="000000"/>
                </a:solidFill>
                <a:latin typeface="Times New Roman"/>
                <a:cs typeface="Times New Roman"/>
              </a:rPr>
              <a:t>Improve spam detection rules</a:t>
            </a:r>
          </a:p>
          <a:p>
            <a:pPr marL="342900" indent="-342900" algn="l">
              <a:spcAft>
                <a:spcPts val="700"/>
              </a:spcAft>
              <a:buFont typeface="Arial"/>
              <a:buChar char="•"/>
            </a:pPr>
            <a:r>
              <a:rPr lang="en-IN" sz="1800" b="0" i="0" dirty="0">
                <a:solidFill>
                  <a:srgbClr val="000000"/>
                </a:solidFill>
                <a:latin typeface="Times New Roman"/>
                <a:cs typeface="Times New Roman"/>
              </a:rPr>
              <a:t>Support larger email datasets</a:t>
            </a:r>
          </a:p>
          <a:p>
            <a:pPr marL="342900" indent="-342900" algn="l">
              <a:spcAft>
                <a:spcPts val="700"/>
              </a:spcAft>
              <a:buFont typeface="Arial"/>
              <a:buChar char="•"/>
            </a:pPr>
            <a:r>
              <a:rPr lang="en-IN" sz="1800" b="0" i="0" dirty="0">
                <a:solidFill>
                  <a:srgbClr val="000000"/>
                </a:solidFill>
                <a:latin typeface="Times New Roman"/>
                <a:cs typeface="Times New Roman"/>
              </a:rPr>
              <a:t>Add Machine Learning in the future</a:t>
            </a:r>
          </a:p>
          <a:p>
            <a:pPr marL="342900" indent="-342900" algn="l">
              <a:spcAft>
                <a:spcPts val="700"/>
              </a:spcAft>
              <a:buFont typeface="Arial"/>
              <a:buChar char="•"/>
            </a:pPr>
            <a:r>
              <a:rPr lang="en-IN" sz="1800" b="0" i="0" dirty="0">
                <a:solidFill>
                  <a:srgbClr val="000000"/>
                </a:solidFill>
                <a:latin typeface="Times New Roman"/>
                <a:cs typeface="Times New Roman"/>
              </a:rPr>
              <a:t>Improve phishing-link detection</a:t>
            </a:r>
          </a:p>
          <a:p>
            <a:pPr marL="342900" indent="-342900" algn="l">
              <a:spcAft>
                <a:spcPts val="700"/>
              </a:spcAft>
              <a:buFont typeface="Arial"/>
              <a:buChar char="•"/>
            </a:pPr>
            <a:r>
              <a:rPr lang="en-IN" sz="1800" b="0" i="0" dirty="0">
                <a:solidFill>
                  <a:srgbClr val="000000"/>
                </a:solidFill>
                <a:latin typeface="Times New Roman"/>
                <a:cs typeface="Times New Roman"/>
              </a:rPr>
              <a:t>Add real email-service integration</a:t>
            </a:r>
          </a:p>
          <a:p>
            <a:pPr marL="342900" indent="-342900" algn="l">
              <a:spcAft>
                <a:spcPts val="700"/>
              </a:spcAft>
              <a:buFont typeface="Arial"/>
              <a:buChar char="•"/>
            </a:pPr>
            <a:r>
              <a:rPr lang="en-IN" sz="1800" b="0" i="0" dirty="0">
                <a:solidFill>
                  <a:srgbClr val="000000"/>
                </a:solidFill>
                <a:latin typeface="Times New Roman"/>
                <a:cs typeface="Times New Roman"/>
              </a:rPr>
              <a:t>Support more languages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622873" y="2750090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672</Words>
  <Application>Microsoft Office PowerPoint</Application>
  <PresentationFormat>Widescreen</PresentationFormat>
  <Paragraphs>127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       Data Structures and Algorithms -3 (25CS2103E)  Email Content Analysis for Detecting Spam Messages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Venkat Sai Krishna</cp:lastModifiedBy>
  <cp:revision>35</cp:revision>
  <dcterms:created xsi:type="dcterms:W3CDTF">2024-08-29T05:25:00Z</dcterms:created>
  <dcterms:modified xsi:type="dcterms:W3CDTF">2026-10-09T05:21:01Z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